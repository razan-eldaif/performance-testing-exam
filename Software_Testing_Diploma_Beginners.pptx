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-640080"/>
            <a:ext cx="3474720" cy="3474720"/>
          </a:xfrm>
          <a:prstGeom prst="ellipse">
            <a:avLst/>
          </a:prstGeom>
          <a:solidFill>
            <a:srgbClr val="10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3931920"/>
            <a:ext cx="2194560" cy="219456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182880" y="5029200"/>
            <a:ext cx="1828800" cy="1828800"/>
          </a:xfrm>
          <a:prstGeom prst="ellipse">
            <a:avLst/>
          </a:prstGeom>
          <a:solidFill>
            <a:srgbClr val="10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1463040"/>
            <a:ext cx="1645920" cy="50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1005840"/>
            <a:ext cx="1280160" cy="347472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1024128"/>
            <a:ext cx="1261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1F44"/>
                </a:solidFill>
              </a:rPr>
              <a:t>✦  NEW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دبلومة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06B6D4"/>
                </a:solidFill>
              </a:rPr>
              <a:t>اختبار البرمجيات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632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للمبتدئين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86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CA3AF"/>
                </a:solidFill>
              </a:rPr>
              <a:t>Software Testing Diploma  —  Beginners Track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75488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8" y="48280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523036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</a:rPr>
              <a:t>شهرين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559612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مدة البرنامج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475488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0208" y="48280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��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0208" y="523036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</a:rPr>
              <a:t>12 محاضرة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0208" y="559612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المحتوى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75488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48280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523036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</a:rPr>
              <a:t>مبتدئ → محترف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559612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المستوى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0" y="475488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36608" y="48280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6608" y="523036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</a:rPr>
              <a:t>شهادة إتمام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6608" y="559612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المخرجات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3093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CA3AF"/>
                </a:solidFill>
              </a:rPr>
              <a:t>اكتسب مهارات QA الاحترافية في أسرع وقت — خطوتك الأولى نحو وظيفة اختبار البرمجيات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3703320"/>
            <a:ext cx="3200400" cy="320040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320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عن البرنامج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772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ما الذي ستتعلمه؟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50876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3F4F6"/>
                </a:solidFill>
              </a:rPr>
              <a:t>برنامج مكثف مدته شهران يأخذك من الصفر إلى مستوى مبتدئ-متقدم في اختبار البرمجيات. ستتعلم الأسس النظرية والتطبيقية لاختبار الجودة، وتتدرب على أدوات احترافية تستخدمها الشركات العالمية.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" y="3566160"/>
            <a:ext cx="3566160" cy="566928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65760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🗓️  شهرين / 12 محاضرة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" y="4297680"/>
            <a:ext cx="3566160" cy="566928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3891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🖥️  أونلاين + ورش تطبيقية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5029200"/>
            <a:ext cx="3566160" cy="566928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20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📜  شهادة + مشروع تخرج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00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44"/>
                </a:solidFill>
              </a:rPr>
              <a:t>لماذا هذا البرنامج؟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868680"/>
            <a:ext cx="10360152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886968"/>
            <a:ext cx="100584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0" y="1188720"/>
            <a:ext cx="34747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0" y="1188720"/>
            <a:ext cx="3474720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6592" y="13533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6B6D4"/>
                </a:solidFill>
              </a:rPr>
              <a:t>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592" y="18470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F44"/>
                </a:solidFill>
              </a:rPr>
              <a:t>تعلم عملي 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6592" y="2267712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2937"/>
                </a:solidFill>
              </a:rPr>
              <a:t>كل محاضرة تحتوي على تمارين تطبيقية وتدريبات على أدوات حقيقية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1188720"/>
            <a:ext cx="34747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1188720"/>
            <a:ext cx="3474720" cy="109728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13533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56DB"/>
                </a:solidFill>
              </a:rPr>
              <a:t>🛠️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7072" y="18470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F44"/>
                </a:solidFill>
              </a:rPr>
              <a:t>أدوات احترافية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7072" y="2267712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2937"/>
                </a:solidFill>
              </a:rPr>
              <a:t>Selenium • Postman • JMeter • Jira • GitHub Actions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749039"/>
            <a:ext cx="34747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3749039"/>
            <a:ext cx="347472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36592" y="391363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59E0B"/>
                </a:solidFill>
              </a:rPr>
              <a:t>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36592" y="4407407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F44"/>
                </a:solidFill>
              </a:rPr>
              <a:t>منهج منظم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6592" y="4828031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2937"/>
                </a:solidFill>
              </a:rPr>
              <a:t>محتوى مرتب تصاعدياً من المفاهيم الأساسية إلى التطبيقات المتقدمة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3749039"/>
            <a:ext cx="34747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12480" y="3749039"/>
            <a:ext cx="3474720" cy="1097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77072" y="391363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59669"/>
                </a:solidFill>
              </a:rPr>
              <a:t>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7072" y="4407407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F44"/>
                </a:solidFill>
              </a:rPr>
              <a:t>دعم مسار وظيفي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7072" y="4828031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2937"/>
                </a:solidFill>
              </a:rPr>
              <a:t>إرشاد لبناء CV وإعداد لمقابلات العمل في مجال QA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🎯  أهداف البرنامج — ماذا ستتقن عند التخرج؟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32588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91440" cy="20116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4632" y="14630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84248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أسس اختبار البرمجيات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404872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فهم SDLC، STLC، أنواع الاختبارات، ومستوياتها بشكل كامل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32588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7832" y="1325880"/>
            <a:ext cx="91440" cy="20116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2424" y="14630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92424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1984248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تصميم حالات الاختبار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92424" y="2404872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كتابة Test Cases و Test Plans احترافية وفق معايير ISTQB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5624" y="132588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35624" y="1325880"/>
            <a:ext cx="91440" cy="2011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00216" y="14630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216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984248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الاختبار اليدوي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404872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تنفيذ Functional / Regression / Smoke Testing يدوياً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32588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43416" y="1325880"/>
            <a:ext cx="91440" cy="2011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08008" y="14630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08008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8008" y="1984248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اختبار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8" y="2404872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اختبار RESTful APIs باستخدام Postman وتوثيق النتائج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3538728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538728"/>
            <a:ext cx="91440" cy="2011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84632" y="367588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6758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" y="4197096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اختبار الأداء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" y="4617720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تصميم وتشغيل سيناريوهات Load &amp; Stress Testing باستخدام JMeter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27832" y="3538728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27832" y="3538728"/>
            <a:ext cx="91440" cy="20116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392424" y="367588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92424" y="36758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92424" y="4197096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أتمتة الاختبار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92424" y="4617720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كتابة سكريبتات Selenium WebDriver الأساسية بلغة Python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35624" y="3538728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35624" y="3538728"/>
            <a:ext cx="91440" cy="20116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00216" y="367588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0216" y="36758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0216" y="4197096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إدارة العيوب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216" y="4617720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رفع Bug Reports احترافية وتتبع الأخطاء عبر Jira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43416" y="3538728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43416" y="3538728"/>
            <a:ext cx="91440" cy="2011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208008" y="367588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08008" y="36758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08008" y="4197096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التكامل المستمر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8008" y="4617720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فهم CI/CD وربط الاختبارات بـ GitHub Actions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A56DB"/>
                </a:solidFill>
              </a:rPr>
              <a:t>✅  خريج البرنامج مؤهل للتقديم على وظائف Junior QA Engineer وللحصول على شهادة ISTQB Foundation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4572000"/>
            <a:ext cx="3657600" cy="365760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خارطة المحاضرات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</a:rPr>
              <a:t>Curriculum Roadmap — 12 Lectures Over 2 Months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5303520" cy="50292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📅  الشهر الأول — Foundation 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202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48640" cy="658368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1168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" y="197510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مقدمة في اختبار البرمجيات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30428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SDLC &amp; STLC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70048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2670048"/>
            <a:ext cx="548640" cy="658368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761488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" y="272491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أنواع ومستويات الاختبار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05409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Testing Types &amp; Levels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419856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3419856"/>
            <a:ext cx="548640" cy="658368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511296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4747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تصميم حالات الاختبار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380390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Test Case Design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169664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169664"/>
            <a:ext cx="548640" cy="658368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261104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" y="422452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الاختبار اليدوي الوظيفي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455371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Manual Functional Testing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919472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919472"/>
            <a:ext cx="548640" cy="658368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010912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" y="497433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اختبار الـ API باستخدام Postman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53035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API Testing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6692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5669280"/>
            <a:ext cx="548640" cy="658368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76072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" y="572414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إدارة العيوب والتقارير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605332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Bug Reporting &amp; Test Mgmt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92240" y="1325880"/>
            <a:ext cx="5303520" cy="502920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13716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1F44"/>
                </a:solidFill>
              </a:rPr>
              <a:t>📅  الشهر الثاني — Professional Track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92240" y="19202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05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92240" y="1920240"/>
            <a:ext cx="548640" cy="658368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201168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14032" y="197510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مقدمة اختبار الأداء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230428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Performance Testing Intro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92240" y="2670048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05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492240" y="2670048"/>
            <a:ext cx="548640" cy="658368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37960" y="2761488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272491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JMeter — بناء خطط الاختبار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14032" y="305409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JMeter Test Plans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92240" y="3419856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05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492240" y="3419856"/>
            <a:ext cx="548640" cy="658368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3511296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09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14032" y="34747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مقدمة أتمتة الاختبار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14032" y="380390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Test Automation Intro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92240" y="4169664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05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492240" y="4169664"/>
            <a:ext cx="548640" cy="658368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37960" y="4261104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14032" y="422452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Selenium WebDriver مع Python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14032" y="455371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Selenium Automation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92240" y="4919472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05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492240" y="4919472"/>
            <a:ext cx="548640" cy="658368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37960" y="5010912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14032" y="497433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CI/CD والاختبار المستمر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14032" y="53035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CI/CD &amp; DevOps Testing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92240" y="56692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05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492240" y="5669280"/>
            <a:ext cx="548640" cy="658368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37960" y="576072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14032" y="572414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مشروع التخرج والتوجيه الوظيفي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14032" y="605332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Capstone &amp; Career Prep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52160" y="36576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الشهر الأول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AFF"/>
                </a:solidFill>
              </a:rPr>
              <a:t>Foundation Track — الأسس والمهارات الأساسية  (Lectures 1–6)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4173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566160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270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6DB"/>
                </a:solidFill>
              </a:rPr>
              <a:t>🏗️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545336"/>
            <a:ext cx="475488" cy="347472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453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984248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مقدمة في اختبار البرمجيات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441448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5328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ما هو اختبار البرمجيات؟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825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دورة حياة التطوير SDLC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118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دورة حياة الاختبار STLC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10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مبادئ الاختبار السبعة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" y="3447288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دورة حياة تطوير البرمجيات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4173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417320"/>
            <a:ext cx="35661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4528" y="15270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7C3AED"/>
                </a:solidFill>
              </a:rPr>
              <a:t>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9160" y="1545336"/>
            <a:ext cx="475488" cy="34747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15453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1984248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أنواع ومستويات الاختبار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2441448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51960" y="25328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Unit / Integration / System / UAT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2825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Functional vs Non-Functional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118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Black Box &amp; White Box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3410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Static vs Dynamic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24528" y="3447288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9392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هرم مستويات الاختبار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80" y="14173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55280" y="1417320"/>
            <a:ext cx="356616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5008" y="15270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6B6D4"/>
                </a:solidFill>
              </a:rPr>
              <a:t>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9640" y="1545336"/>
            <a:ext cx="475488" cy="347472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15453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5008" y="1984248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تصميم حالات الاختبار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0" y="2441448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92440" y="25328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Equivalence Partitioning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2825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Boundary Value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3118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Decision Table Testing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2440" y="3410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State Transition Testing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65008" y="3447288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19872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جدول تقسيم الحدود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4320" y="3995928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3995928"/>
            <a:ext cx="35661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10565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59E0B"/>
                </a:solidFill>
              </a:rPr>
              <a:t>🖱️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8680" y="4123944"/>
            <a:ext cx="475488" cy="347472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412394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" y="4562856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الاختبار اليدوي الوظيفي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20056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5111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كتابة Test Plan احترافي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5404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Smoke / Sanity Testing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5696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Regression Testing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" y="598932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تنفيذ وتوثيق الاختبارات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84048" y="6025896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8912" y="6035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تدفق تنفيذ الاختبار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0" y="3995928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0" y="3995928"/>
            <a:ext cx="356616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24528" y="410565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59669"/>
                </a:solidFill>
              </a:rPr>
              <a:t>🌐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709160" y="4123944"/>
            <a:ext cx="475488" cy="347472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09160" y="412394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24528" y="4562856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اختبار الـ API باستخدام Postman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06240" y="5020056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51960" y="5111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REST API Fundamentals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51960" y="5404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HTTP Methods &amp; Status Codes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51960" y="5696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كتابة Assertions في Postman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51960" y="598932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تشغيل Collection Runner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224528" y="6025896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79392" y="6035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تدفق طلب API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955280" y="3995928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955280" y="3995928"/>
            <a:ext cx="356616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65008" y="410565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C2626"/>
                </a:solidFill>
              </a:rPr>
              <a:t>🐛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549640" y="4123944"/>
            <a:ext cx="475488" cy="347472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49640" y="412394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65008" y="4562856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إدارة العيوب والتقارير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5020056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92440" y="5111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Bug Life Cycle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92440" y="5404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كتابة Bug Report احترافي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92440" y="5696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Severity vs Priority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92440" y="598932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إدارة الاختبارات في Jira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065008" y="6025896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119872" y="6035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دورة حياة العيوب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الشهر الثاني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6B6D4"/>
                </a:solidFill>
              </a:rPr>
              <a:t>Professional Track — الأدوات والمهارات المتقدمة  (Lectures 7–12)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4173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56616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270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6B6D4"/>
                </a:solidFill>
              </a:rPr>
              <a:t>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545336"/>
            <a:ext cx="475488" cy="347472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453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984248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مقدمة اختبار الأداء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441448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5328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ما هو Performance Testing؟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825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Load / Stress / Spike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118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مقاييس الأداء الأساسية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10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أدوات اختبار الأداء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" y="3447288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منحنى الحمل والأداء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4173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417320"/>
            <a:ext cx="3566160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4528" y="15270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6DB"/>
                </a:solidFill>
              </a:rPr>
              <a:t>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9160" y="1545336"/>
            <a:ext cx="475488" cy="347472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15453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1984248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JMeter — بناء خطط الاختبار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2441448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51960" y="25328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واجهة JMeter وعناصرها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2825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Thread Groups &amp; Samplers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118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Listeners &amp; Reports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3410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تشغيل اختبار حمل كامل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24528" y="3447288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9392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مخطط نتائج JMeter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80" y="14173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55280" y="1417320"/>
            <a:ext cx="35661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5008" y="15270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7C3AED"/>
                </a:solidFill>
              </a:rPr>
              <a:t>🤖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9640" y="1545336"/>
            <a:ext cx="475488" cy="34747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15453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5008" y="1984248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مقدمة أتمتة الاختبار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0" y="2441448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92440" y="25328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متى تؤتمت؟ الأطر والمفاهيم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2825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Page Object Model (POM)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3118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Selenium + Python أساسيات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2440" y="3410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تشغيل أول اختبار آلي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65008" y="3447288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19872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هيكلية POM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4320" y="3995928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3995928"/>
            <a:ext cx="35661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10565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59E0B"/>
                </a:solidFill>
              </a:rPr>
              <a:t>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8680" y="4123944"/>
            <a:ext cx="475488" cy="347472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412394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" y="4562856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Selenium WebDriver مع Python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20056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5111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Locators: ID / XPath / CSS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5404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Actions: Click / Type / Assert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5696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Waits: Implicit &amp; Explicit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" y="598932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تشغيل Test Suite كاملة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84048" y="6025896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8912" y="6035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تدفق اختبار Selenium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0" y="3995928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0" y="3995928"/>
            <a:ext cx="356616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24528" y="410565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59669"/>
                </a:solidFill>
              </a:rPr>
              <a:t>🔄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709160" y="4123944"/>
            <a:ext cx="475488" cy="347472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09160" y="412394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24528" y="4562856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CI/CD والاختبار المستمر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06240" y="5020056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51960" y="5111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مفهوم CI/CD في عالم QA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51960" y="5404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GitHub Actions للاختبار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51960" y="5696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تقارير الاختبار الآلية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51960" y="598932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Agile &amp; Scrum Testing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224528" y="6025896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79392" y="6035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خط أنابيب CI/CD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955280" y="3995928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955280" y="3995928"/>
            <a:ext cx="356616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65008" y="410565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C2626"/>
                </a:solidFill>
              </a:rPr>
              <a:t>🏆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549640" y="4123944"/>
            <a:ext cx="475488" cy="347472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49640" y="412394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65008" y="4562856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مشروع التخرج والتوجيه الوظيفي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5020056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92440" y="5111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مشروع تخرج شامل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92440" y="5404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ISTQB Foundation مراجعة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92440" y="5696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بناء CV لـ QA Engineer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92440" y="598932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التحضير لمقابلات العمل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065008" y="6025896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119872" y="6035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مشروع تخرج تطبيقي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29800" y="-685800"/>
            <a:ext cx="3200400" cy="320040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228600" y="5074920"/>
            <a:ext cx="2286000" cy="228600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��️  الأدوات التي ستتقنها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772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Tools &amp; Technologies You Will Master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32588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325880"/>
            <a:ext cx="265176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4630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59E0B"/>
                </a:solidFill>
              </a:rPr>
              <a:t>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984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Postman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368295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API Testing</a:t>
            </a:r>
          </a:p>
        </p:txBody>
      </p:sp>
      <p:sp>
        <p:nvSpPr>
          <p:cNvPr id="13" name="Oval 12"/>
          <p:cNvSpPr/>
          <p:nvPr/>
        </p:nvSpPr>
        <p:spPr>
          <a:xfrm>
            <a:off x="2670048" y="150876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19272" y="132588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9272" y="1325880"/>
            <a:ext cx="2651760" cy="914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3864" y="14630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56DB"/>
                </a:solidFill>
              </a:rPr>
              <a:t>��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1984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JMeter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3864" y="2368295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Performance Testing</a:t>
            </a:r>
          </a:p>
        </p:txBody>
      </p:sp>
      <p:sp>
        <p:nvSpPr>
          <p:cNvPr id="19" name="Oval 18"/>
          <p:cNvSpPr/>
          <p:nvPr/>
        </p:nvSpPr>
        <p:spPr>
          <a:xfrm>
            <a:off x="5641848" y="1508760"/>
            <a:ext cx="146304" cy="146304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91072" y="132588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91072" y="1325880"/>
            <a:ext cx="265176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14630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59669"/>
                </a:solidFill>
              </a:rPr>
              <a:t>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1984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Selenium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368295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UI Automation</a:t>
            </a:r>
          </a:p>
        </p:txBody>
      </p:sp>
      <p:sp>
        <p:nvSpPr>
          <p:cNvPr id="25" name="Oval 24"/>
          <p:cNvSpPr/>
          <p:nvPr/>
        </p:nvSpPr>
        <p:spPr>
          <a:xfrm>
            <a:off x="8613648" y="1508760"/>
            <a:ext cx="146304" cy="146304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62872" y="132588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62872" y="1325880"/>
            <a:ext cx="265176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27464" y="14630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6B6D4"/>
                </a:solidFill>
              </a:rPr>
              <a:t>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27464" y="1984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7464" y="2368295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Scripting Language</a:t>
            </a:r>
          </a:p>
        </p:txBody>
      </p:sp>
      <p:sp>
        <p:nvSpPr>
          <p:cNvPr id="31" name="Oval 30"/>
          <p:cNvSpPr/>
          <p:nvPr/>
        </p:nvSpPr>
        <p:spPr>
          <a:xfrm>
            <a:off x="11585448" y="1508760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7472" y="3227832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7472" y="3227832"/>
            <a:ext cx="26517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4" y="33649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7C3AED"/>
                </a:solidFill>
              </a:rPr>
              <a:t>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" y="388620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Jira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" y="4270247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Bug &amp; Task Tracking</a:t>
            </a:r>
          </a:p>
        </p:txBody>
      </p:sp>
      <p:sp>
        <p:nvSpPr>
          <p:cNvPr id="37" name="Oval 36"/>
          <p:cNvSpPr/>
          <p:nvPr/>
        </p:nvSpPr>
        <p:spPr>
          <a:xfrm>
            <a:off x="2670048" y="3410712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319272" y="3227832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19272" y="3227832"/>
            <a:ext cx="2651760" cy="91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83864" y="33649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DC2626"/>
                </a:solidFill>
              </a:rPr>
              <a:t>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83864" y="388620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GitHub Actions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83864" y="4270247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CI/CD Pipeline</a:t>
            </a:r>
          </a:p>
        </p:txBody>
      </p:sp>
      <p:sp>
        <p:nvSpPr>
          <p:cNvPr id="43" name="Oval 42"/>
          <p:cNvSpPr/>
          <p:nvPr/>
        </p:nvSpPr>
        <p:spPr>
          <a:xfrm>
            <a:off x="5641848" y="3410712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291072" y="3227832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91072" y="3227832"/>
            <a:ext cx="265176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55664" y="33649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97316"/>
                </a:solidFill>
              </a:rPr>
              <a:t>��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55664" y="388620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Git &amp; GitHub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55664" y="4270247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Version Control</a:t>
            </a:r>
          </a:p>
        </p:txBody>
      </p:sp>
      <p:sp>
        <p:nvSpPr>
          <p:cNvPr id="49" name="Oval 48"/>
          <p:cNvSpPr/>
          <p:nvPr/>
        </p:nvSpPr>
        <p:spPr>
          <a:xfrm>
            <a:off x="8613648" y="3410712"/>
            <a:ext cx="146304" cy="14630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262872" y="3227832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262872" y="3227832"/>
            <a:ext cx="2651760" cy="914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27464" y="33649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56DB"/>
                </a:solidFill>
              </a:rPr>
              <a:t>💻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27464" y="388620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VS Code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27464" y="4270247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IDE &amp; Development</a:t>
            </a:r>
          </a:p>
        </p:txBody>
      </p:sp>
      <p:sp>
        <p:nvSpPr>
          <p:cNvPr id="55" name="Oval 54"/>
          <p:cNvSpPr/>
          <p:nvPr/>
        </p:nvSpPr>
        <p:spPr>
          <a:xfrm>
            <a:off x="11585448" y="3410712"/>
            <a:ext cx="146304" cy="146304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5603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44"/>
                </a:solidFill>
              </a:rPr>
              <a:t>🗺️  رحلة التعلم — من المبتدئ إلى المحترف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Learning Journey — Step by Step Progress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540760"/>
            <a:ext cx="11064240" cy="5080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8660" y="3360420"/>
            <a:ext cx="411480" cy="41148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3816" y="3465576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2697480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69748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Week 1-2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3716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1F44"/>
                </a:solidFill>
              </a:rPr>
              <a:t>المفاهيم الأساسية
وبيئة العمل</a:t>
            </a:r>
          </a:p>
        </p:txBody>
      </p:sp>
      <p:sp>
        <p:nvSpPr>
          <p:cNvPr id="13" name="Oval 12"/>
          <p:cNvSpPr/>
          <p:nvPr/>
        </p:nvSpPr>
        <p:spPr>
          <a:xfrm>
            <a:off x="2628900" y="336042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34056" y="3465576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331720" y="4069080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406908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Week 3-4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8056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1F44"/>
                </a:solidFill>
              </a:rPr>
              <a:t>تصميم
حالات الاختبار</a:t>
            </a:r>
          </a:p>
        </p:txBody>
      </p:sp>
      <p:sp>
        <p:nvSpPr>
          <p:cNvPr id="18" name="Oval 17"/>
          <p:cNvSpPr/>
          <p:nvPr/>
        </p:nvSpPr>
        <p:spPr>
          <a:xfrm>
            <a:off x="4549140" y="3360420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54296" y="3465576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51960" y="2697480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1960" y="269748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Week 5-6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40" y="13716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1F44"/>
                </a:solidFill>
              </a:rPr>
              <a:t>الاختبار اليدوي
واختبار API</a:t>
            </a:r>
          </a:p>
        </p:txBody>
      </p:sp>
      <p:sp>
        <p:nvSpPr>
          <p:cNvPr id="23" name="Oval 22"/>
          <p:cNvSpPr/>
          <p:nvPr/>
        </p:nvSpPr>
        <p:spPr>
          <a:xfrm>
            <a:off x="6469380" y="336042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74536" y="3465576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72200" y="4069080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406908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Week 7-8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448056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1F44"/>
                </a:solidFill>
              </a:rPr>
              <a:t>اختبار الأداء
باستخدام JMeter</a:t>
            </a:r>
          </a:p>
        </p:txBody>
      </p:sp>
      <p:sp>
        <p:nvSpPr>
          <p:cNvPr id="28" name="Oval 27"/>
          <p:cNvSpPr/>
          <p:nvPr/>
        </p:nvSpPr>
        <p:spPr>
          <a:xfrm>
            <a:off x="8389620" y="3360420"/>
            <a:ext cx="411480" cy="41148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494776" y="3465576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92440" y="2697480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440" y="269748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Week 9-10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13716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1F44"/>
                </a:solidFill>
              </a:rPr>
              <a:t>أتمتة الاختبار
Selenium + Python</a:t>
            </a:r>
          </a:p>
        </p:txBody>
      </p:sp>
      <p:sp>
        <p:nvSpPr>
          <p:cNvPr id="33" name="Oval 32"/>
          <p:cNvSpPr/>
          <p:nvPr/>
        </p:nvSpPr>
        <p:spPr>
          <a:xfrm>
            <a:off x="10309860" y="3360420"/>
            <a:ext cx="411480" cy="41148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415016" y="3465576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012680" y="4069080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12680" y="406908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Week 11-12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448056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1F44"/>
                </a:solidFill>
              </a:rPr>
              <a:t>مشروع التخرج
والوظيفة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" y="321868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CA3AF"/>
                </a:solidFill>
              </a:rPr>
              <a:t>🚦 START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09960" y="31089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</a:rPr>
              <a:t>🏁 QA
Engineer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29107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B6D4"/>
                </a:solidFill>
              </a:rPr>
              <a:t>✅  بعد 8 أسابيع ستكون مؤهلاً لوظيفة Junior QA Engineer وجاهزاً لشهادة ISTQB Foundation Level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5603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👥  لمن هذا البرنامج؟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Target Audience — Who Should Enroll?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2743200" cy="1097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0160" y="1810512"/>
            <a:ext cx="822960" cy="82296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7592" y="182880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</a:rPr>
              <a:t>👨‍💻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31363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خريجو تقنية المعلومات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3657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F2937"/>
                </a:solidFill>
              </a:rPr>
              <a:t>حديثو التخرج في IT أو علوم الحاسب الراغبون في دخول سوق العمل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4408" y="141732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417320"/>
            <a:ext cx="2743200" cy="109728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24528" y="1810512"/>
            <a:ext cx="822960" cy="82296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60" y="182880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4136" y="31363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المحولون للتقنية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6" y="3657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F2937"/>
                </a:solidFill>
              </a:rPr>
              <a:t>أفراد من مجالات أخرى يرغبون في التحول إلى مجال ضمان الجودة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141732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1417320"/>
            <a:ext cx="274320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68896" y="1810512"/>
            <a:ext cx="822960" cy="822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8" y="182880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</a:rPr>
              <a:t>🧑‍💼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31363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المطورون المبتدئون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657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F2937"/>
                </a:solidFill>
              </a:rPr>
              <a:t>مطورو برامج يريدون فهم الاختبار لتحسين جودة كودهم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53144" y="141732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53144" y="1417320"/>
            <a:ext cx="274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13264" y="1810512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0696" y="182880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31363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مديرو المشاريع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3657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F2937"/>
                </a:solidFill>
              </a:rPr>
              <a:t>أفراد يعملون في إدارة المشاريع ويريدون فهم عمليات QA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8920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F44"/>
                </a:solidFill>
              </a:rPr>
              <a:t>المتطلبات الأساسية للانضمام: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3766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✅  لا يشترط خبرة مسبقة في اختبار البرمجيات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572414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✅  معرفة أساسية باستخدام الحاسب والإنترنت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071616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✅  رغبة صادقة في التعلم والتطور المهني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1908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✅  حاسب شخصي (Windows / Mac / Linux) مع اتصال إنترنت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32520" y="-685800"/>
            <a:ext cx="4114800" cy="411480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228600" y="4343400"/>
            <a:ext cx="3200400" cy="320040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200400" y="640080"/>
            <a:ext cx="6400800" cy="6400800"/>
          </a:xfrm>
          <a:prstGeom prst="ellipse">
            <a:avLst/>
          </a:prstGeom>
          <a:solidFill>
            <a:srgbClr val="0C2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0" y="914400"/>
            <a:ext cx="5120640" cy="438912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93268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✦  التسجيل مفتوح الآن — Registration Open Now  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554480"/>
            <a:ext cx="8686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ابدأ رحلتك 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04288"/>
            <a:ext cx="8686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6B6D4"/>
                </a:solidFill>
              </a:rPr>
              <a:t>اختبار البرمجيات اليوم!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461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CA3AF"/>
                </a:solidFill>
              </a:rPr>
              <a:t>دبلومة اختبار البرمجيات للمبتدئين  —  8 أسابيع  •  12 محاضرة  •  مشروع تخرج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-4264243441524" y="3886200"/>
            <a:ext cx="2194560" cy="128016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-4264243441524" y="3950208"/>
            <a:ext cx="2194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6B6D4"/>
                </a:solidFill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4264243441524" y="455371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محاضرة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-4264240972644" y="3886200"/>
            <a:ext cx="2194560" cy="128016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-4264240972644" y="3950208"/>
            <a:ext cx="2194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6B6D4"/>
                </a:solidFill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4264240972644" y="455371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أسابيع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-4264238503764" y="3886200"/>
            <a:ext cx="2194560" cy="128016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-4264238503764" y="3950208"/>
            <a:ext cx="2194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6B6D4"/>
                </a:solidFill>
              </a:rPr>
              <a:t>4+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4264238503764" y="455371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أدوات احترافية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-4264236034884" y="3886200"/>
            <a:ext cx="2194560" cy="128016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-4264236034884" y="3950208"/>
            <a:ext cx="2194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6B6D4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4264236034884" y="455371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شهادة إتمام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5486400"/>
            <a:ext cx="3383280" cy="658368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5522976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1F44"/>
                </a:solidFill>
              </a:rPr>
              <a:t>سجّل الآن  →  Enroll 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6400800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للتواصل والاستفسار: info@example.com  |  www.example.com  |  @QADiploma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