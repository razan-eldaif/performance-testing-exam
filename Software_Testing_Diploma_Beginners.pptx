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640080"/>
            <a:ext cx="3474720" cy="3474720"/>
          </a:xfrm>
          <a:prstGeom prst="ellipse">
            <a:avLst/>
          </a:prstGeom>
          <a:solidFill>
            <a:srgbClr val="1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3931920"/>
            <a:ext cx="2194560" cy="2194560"/>
          </a:xfrm>
          <a:prstGeom prst="ellipse">
            <a:avLst/>
          </a:prstGeom>
          <a:solidFill>
            <a:srgbClr val="0C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" y="5029200"/>
            <a:ext cx="1828800" cy="1828800"/>
          </a:xfrm>
          <a:prstGeom prst="ellipse">
            <a:avLst/>
          </a:prstGeom>
          <a:solidFill>
            <a:srgbClr val="1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100584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024128"/>
            <a:ext cx="1353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F44"/>
                </a:solidFill>
              </a:rPr>
              <a:t>✦  NEW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481328"/>
            <a:ext cx="182880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91640"/>
            <a:ext cx="82296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Software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87168"/>
            <a:ext cx="82296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6B6D4"/>
                </a:solidFill>
              </a:rPr>
              <a:t>Diploma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73552"/>
            <a:ext cx="8229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for Beginners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1148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CA3AF"/>
                </a:solidFill>
              </a:rPr>
              <a:t>Launch your QA career with a structured, hands-on 2-month program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773168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03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524865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2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56418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Duration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4773168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03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50208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0208" y="524865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12 Lectures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0208" y="56418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Content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773168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03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524865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Beginner → Pro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8" y="56418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Level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4773168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03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36608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6608" y="524865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Certificate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6608" y="56418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Outcome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6309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</a:rPr>
              <a:t>Master QA fundamentals, industry tools, and automation — your first step toward a professional testing career.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3703320"/>
            <a:ext cx="3200400" cy="3200400"/>
          </a:xfrm>
          <a:prstGeom prst="ellipse">
            <a:avLst/>
          </a:prstGeom>
          <a:solidFill>
            <a:srgbClr val="0C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320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ABOUT THE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Will
You Learn?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83080"/>
            <a:ext cx="3657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3F4F6"/>
                </a:solidFill>
              </a:rPr>
              <a:t>An intensive 2-month program taking you from zero to a beginner-advanced level in software testing. You will learn both theoretical foundations and practical QA skills, and gain hands-on experience with industry-standard tools used by top companies worldwide.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3566160"/>
            <a:ext cx="3566160" cy="566928"/>
          </a:xfrm>
          <a:prstGeom prst="roundRect">
            <a:avLst>
              <a:gd name="adj" fmla="val 8000"/>
            </a:avLst>
          </a:prstGeom>
          <a:solidFill>
            <a:srgbClr val="103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6576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🗓️  2 Months  /  12 Lectures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" y="4297680"/>
            <a:ext cx="3566160" cy="566928"/>
          </a:xfrm>
          <a:prstGeom prst="roundRect">
            <a:avLst>
              <a:gd name="adj" fmla="val 8000"/>
            </a:avLst>
          </a:prstGeom>
          <a:solidFill>
            <a:srgbClr val="103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3891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🖥️  Online + Practical Workshops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5029200"/>
            <a:ext cx="3566160" cy="566928"/>
          </a:xfrm>
          <a:prstGeom prst="roundRect">
            <a:avLst>
              <a:gd name="adj" fmla="val 8000"/>
            </a:avLst>
          </a:prstGeom>
          <a:solidFill>
            <a:srgbClr val="103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1206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📜  Certificate + Capstone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2608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A1F44"/>
                </a:solidFill>
              </a:rPr>
              <a:t>Why This Program?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868680"/>
            <a:ext cx="10058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18872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1188720"/>
            <a:ext cx="3474720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6592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6B6D4"/>
                </a:solidFill>
              </a:rPr>
              <a:t>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18470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1F44"/>
                </a:solidFill>
              </a:rPr>
              <a:t>70% Hands-On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226771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</a:rPr>
              <a:t>Every lecture includes practical exercises and real-tool training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118872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1188720"/>
            <a:ext cx="3474720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77072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56DB"/>
                </a:solidFill>
              </a:rPr>
              <a:t>🛠️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18470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1F44"/>
                </a:solidFill>
              </a:rPr>
              <a:t>Professional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7072" y="226771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</a:rPr>
              <a:t>Selenium  •  Postman  •  JMeter  •  Jira  •  GitHub Actions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3749039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3749039"/>
            <a:ext cx="347472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36592" y="391363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59E0B"/>
                </a:solidFill>
              </a:rPr>
              <a:t>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6592" y="4407407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1F44"/>
                </a:solidFill>
              </a:rPr>
              <a:t>Structured Curriculum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6592" y="4828031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</a:rPr>
              <a:t>Content is organized progressively from fundamentals to advanced applications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0" y="3749039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12480" y="3749039"/>
            <a:ext cx="347472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77072" y="391363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59669"/>
                </a:solidFill>
              </a:rPr>
              <a:t>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7072" y="4407407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1F44"/>
                </a:solidFill>
              </a:rPr>
              <a:t>Career Path 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77072" y="4828031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</a:rPr>
              <a:t>CV building guidance and interview preparation for QA roles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🎯  Program Objectives — What You Will Master Upon Graduation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32588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91440" cy="2011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" y="146304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984248"/>
            <a:ext cx="2395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Testing Fundamentals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404872"/>
            <a:ext cx="239572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Understand SDLC, STLC, testing types and levels in full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32588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27832" y="1325880"/>
            <a:ext cx="91440" cy="2011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92424" y="146304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92424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1984248"/>
            <a:ext cx="2395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Test Case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2424" y="2404872"/>
            <a:ext cx="239572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Write professional Test Cases and Test Plans per ISTQB standards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35624" y="132588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35624" y="1325880"/>
            <a:ext cx="91440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0216" y="146304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216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1984248"/>
            <a:ext cx="2395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Manual 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2404872"/>
            <a:ext cx="239572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Execute Functional, Regression, and Smoke Testing manually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32588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43416" y="1325880"/>
            <a:ext cx="91440" cy="2011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08008" y="146304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08008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8" y="1984248"/>
            <a:ext cx="2395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API 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8008" y="2404872"/>
            <a:ext cx="239572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Test RESTful APIs using Postman and document results professionally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3538728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538728"/>
            <a:ext cx="91440" cy="2011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84632" y="367588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" y="3675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4197096"/>
            <a:ext cx="2395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Performance Testing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" y="4617720"/>
            <a:ext cx="239572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Design and run Load &amp; Stress Testing scenarios using JMeter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27832" y="3538728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27832" y="3538728"/>
            <a:ext cx="91440" cy="2011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392424" y="367588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92424" y="3675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92424" y="4197096"/>
            <a:ext cx="2395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Test Automation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92424" y="4617720"/>
            <a:ext cx="239572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Write basic Selenium WebDriver scripts using Python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35624" y="3538728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35624" y="3538728"/>
            <a:ext cx="91440" cy="2011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300216" y="367588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0216" y="3675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0216" y="4197096"/>
            <a:ext cx="2395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Defect Management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0216" y="4617720"/>
            <a:ext cx="239572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File professional Bug Reports and track issues using Jira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43416" y="3538728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43416" y="3538728"/>
            <a:ext cx="91440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208008" y="367588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08008" y="3675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08008" y="4197096"/>
            <a:ext cx="2395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CI/CD Integration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8008" y="4617720"/>
            <a:ext cx="239572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Understand CI/CD pipelines and integrate tests with GitHub Actions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A56DB"/>
                </a:solidFill>
              </a:rPr>
              <a:t>✅  Graduates are qualified to apply for Junior QA Engineer roles and sit the ISTQB Foundation Level exam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C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4572000"/>
            <a:ext cx="3657600" cy="3657600"/>
          </a:xfrm>
          <a:prstGeom prst="ellipse">
            <a:avLst/>
          </a:prstGeom>
          <a:solidFill>
            <a:srgbClr val="0C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Curriculum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12 Lectures Across 2 Months — Foundation Track → Professional Track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98448"/>
            <a:ext cx="5303520" cy="502920"/>
          </a:xfrm>
          <a:prstGeom prst="roundRect">
            <a:avLst>
              <a:gd name="adj" fmla="val 8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441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📅  Month 1 — Foundation Track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01952"/>
            <a:ext cx="5303520" cy="658368"/>
          </a:xfrm>
          <a:prstGeom prst="roundRect">
            <a:avLst>
              <a:gd name="adj" fmla="val 8000"/>
            </a:avLst>
          </a:prstGeom>
          <a:solidFill>
            <a:srgbClr val="103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901952"/>
            <a:ext cx="548640" cy="658368"/>
          </a:xfrm>
          <a:prstGeom prst="roundRect">
            <a:avLst>
              <a:gd name="adj" fmla="val 8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93392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195681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Introduction to Software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22860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SDLC &amp; STLC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51760"/>
            <a:ext cx="5303520" cy="658368"/>
          </a:xfrm>
          <a:prstGeom prst="roundRect">
            <a:avLst>
              <a:gd name="adj" fmla="val 8000"/>
            </a:avLst>
          </a:prstGeom>
          <a:solidFill>
            <a:srgbClr val="103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2651760"/>
            <a:ext cx="548640" cy="658368"/>
          </a:xfrm>
          <a:prstGeom prst="roundRect">
            <a:avLst>
              <a:gd name="adj" fmla="val 8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743200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" y="270662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Testing Types &amp; Levels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303580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Black Box / White Box / Levels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401568"/>
            <a:ext cx="5303520" cy="658368"/>
          </a:xfrm>
          <a:prstGeom prst="roundRect">
            <a:avLst>
              <a:gd name="adj" fmla="val 8000"/>
            </a:avLst>
          </a:prstGeom>
          <a:solidFill>
            <a:srgbClr val="103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3401568"/>
            <a:ext cx="548640" cy="658368"/>
          </a:xfrm>
          <a:prstGeom prst="roundRect">
            <a:avLst>
              <a:gd name="adj" fmla="val 8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493008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345643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Test Case Design Techniques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" y="378561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Equivalence, BVA, Decision Table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151376"/>
            <a:ext cx="5303520" cy="658368"/>
          </a:xfrm>
          <a:prstGeom prst="roundRect">
            <a:avLst>
              <a:gd name="adj" fmla="val 8000"/>
            </a:avLst>
          </a:prstGeom>
          <a:solidFill>
            <a:srgbClr val="103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4151376"/>
            <a:ext cx="548640" cy="658368"/>
          </a:xfrm>
          <a:prstGeom prst="roundRect">
            <a:avLst>
              <a:gd name="adj" fmla="val 8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242816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" y="42062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Manual Functional 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" y="453542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Test Plans, Smoke, Regression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901184"/>
            <a:ext cx="5303520" cy="658368"/>
          </a:xfrm>
          <a:prstGeom prst="roundRect">
            <a:avLst>
              <a:gd name="adj" fmla="val 8000"/>
            </a:avLst>
          </a:prstGeom>
          <a:solidFill>
            <a:srgbClr val="103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4901184"/>
            <a:ext cx="548640" cy="658368"/>
          </a:xfrm>
          <a:prstGeom prst="roundRect">
            <a:avLst>
              <a:gd name="adj" fmla="val 8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992624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" y="495604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API Testing with Postman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" y="528523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REST, HTTP Methods, Assertions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650992"/>
            <a:ext cx="5303520" cy="658368"/>
          </a:xfrm>
          <a:prstGeom prst="roundRect">
            <a:avLst>
              <a:gd name="adj" fmla="val 8000"/>
            </a:avLst>
          </a:prstGeom>
          <a:solidFill>
            <a:srgbClr val="103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2920" y="5650992"/>
            <a:ext cx="548640" cy="658368"/>
          </a:xfrm>
          <a:prstGeom prst="roundRect">
            <a:avLst>
              <a:gd name="adj" fmla="val 8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742432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" y="570585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Defect Management &amp; Reporting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" y="60350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Bug Life Cycle, Jira, Severity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1298448"/>
            <a:ext cx="5303520" cy="502920"/>
          </a:xfrm>
          <a:prstGeom prst="roundRect">
            <a:avLst>
              <a:gd name="adj" fmla="val 8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13441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📅  Month 2 — Professional Track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92240" y="1901952"/>
            <a:ext cx="5303520" cy="658368"/>
          </a:xfrm>
          <a:prstGeom prst="roundRect">
            <a:avLst>
              <a:gd name="adj" fmla="val 8000"/>
            </a:avLst>
          </a:prstGeom>
          <a:solidFill>
            <a:srgbClr val="05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92240" y="1901952"/>
            <a:ext cx="548640" cy="658368"/>
          </a:xfrm>
          <a:prstGeom prst="roundRect">
            <a:avLst>
              <a:gd name="adj" fmla="val 8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1993392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F44"/>
                </a:solidFill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14032" y="195681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Introduction to Performance Testing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14032" y="22860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Load, Stress, Spike Testing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92240" y="2651760"/>
            <a:ext cx="5303520" cy="658368"/>
          </a:xfrm>
          <a:prstGeom prst="roundRect">
            <a:avLst>
              <a:gd name="adj" fmla="val 8000"/>
            </a:avLst>
          </a:prstGeom>
          <a:solidFill>
            <a:srgbClr val="05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92240" y="2651760"/>
            <a:ext cx="548640" cy="658368"/>
          </a:xfrm>
          <a:prstGeom prst="roundRect">
            <a:avLst>
              <a:gd name="adj" fmla="val 8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2743200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F44"/>
                </a:solidFill>
              </a:rPr>
              <a:t>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4032" y="270662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JMeter — Building Test Plans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14032" y="303580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Thread Groups, Samplers, Reports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92240" y="3401568"/>
            <a:ext cx="5303520" cy="658368"/>
          </a:xfrm>
          <a:prstGeom prst="roundRect">
            <a:avLst>
              <a:gd name="adj" fmla="val 8000"/>
            </a:avLst>
          </a:prstGeom>
          <a:solidFill>
            <a:srgbClr val="05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492240" y="3401568"/>
            <a:ext cx="548640" cy="658368"/>
          </a:xfrm>
          <a:prstGeom prst="roundRect">
            <a:avLst>
              <a:gd name="adj" fmla="val 8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37960" y="3493008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F44"/>
                </a:solidFill>
              </a:rPr>
              <a:t>09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14032" y="345643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Introduction to Test Automation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14032" y="378561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POM, Frameworks, Strategy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92240" y="4151376"/>
            <a:ext cx="5303520" cy="658368"/>
          </a:xfrm>
          <a:prstGeom prst="roundRect">
            <a:avLst>
              <a:gd name="adj" fmla="val 8000"/>
            </a:avLst>
          </a:prstGeom>
          <a:solidFill>
            <a:srgbClr val="05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492240" y="4151376"/>
            <a:ext cx="548640" cy="658368"/>
          </a:xfrm>
          <a:prstGeom prst="roundRect">
            <a:avLst>
              <a:gd name="adj" fmla="val 8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7960" y="4242816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F44"/>
                </a:solidFill>
              </a:rPr>
              <a:t>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14032" y="42062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Selenium WebDriver with Python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14032" y="453542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Locators, Actions, Waits, Suites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92240" y="4901184"/>
            <a:ext cx="5303520" cy="658368"/>
          </a:xfrm>
          <a:prstGeom prst="roundRect">
            <a:avLst>
              <a:gd name="adj" fmla="val 8000"/>
            </a:avLst>
          </a:prstGeom>
          <a:solidFill>
            <a:srgbClr val="05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492240" y="4901184"/>
            <a:ext cx="548640" cy="658368"/>
          </a:xfrm>
          <a:prstGeom prst="roundRect">
            <a:avLst>
              <a:gd name="adj" fmla="val 8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37960" y="4992624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F44"/>
                </a:solidFill>
              </a:rPr>
              <a:t>11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14032" y="495604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CI/CD &amp; Continuous Testing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14032" y="528523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GitHub Actions, Agile, Reporting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92240" y="5650992"/>
            <a:ext cx="5303520" cy="658368"/>
          </a:xfrm>
          <a:prstGeom prst="roundRect">
            <a:avLst>
              <a:gd name="adj" fmla="val 8000"/>
            </a:avLst>
          </a:prstGeom>
          <a:solidFill>
            <a:srgbClr val="05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492240" y="5650992"/>
            <a:ext cx="548640" cy="658368"/>
          </a:xfrm>
          <a:prstGeom prst="roundRect">
            <a:avLst>
              <a:gd name="adj" fmla="val 8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37960" y="5742432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F44"/>
                </a:solidFill>
              </a:rPr>
              <a:t>12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14032" y="570585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Capstone Project &amp; Career Preparation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14032" y="60350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Portfolio, CV, ISTQB, Interviews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52160" y="3657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Month 1 — Foundation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F"/>
                </a:solidFill>
              </a:rPr>
              <a:t>Core Skills &amp; Fundamentals  (Lectures 1 – 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1732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56616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52704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56DB"/>
                </a:solidFill>
              </a:rPr>
              <a:t>🏗️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545336"/>
            <a:ext cx="475488" cy="347472"/>
          </a:xfrm>
          <a:prstGeom prst="roundRect">
            <a:avLst>
              <a:gd name="adj" fmla="val 8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4533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984248"/>
            <a:ext cx="3364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A1F44"/>
                </a:solidFill>
              </a:rPr>
              <a:t>Introduction to Software Testing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41448"/>
            <a:ext cx="3383280" cy="1905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53288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What is Software Testing?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82549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SDLC — Development Life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11810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STLC — Testing Life 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41071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The 7 Principles of Testing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447288"/>
            <a:ext cx="3346704" cy="274320"/>
          </a:xfrm>
          <a:prstGeom prst="roundRect">
            <a:avLst>
              <a:gd name="adj" fmla="val 8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34564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📊 SDLC &amp; STLC Lifecycle Diagram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141732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1417320"/>
            <a:ext cx="35661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24528" y="152704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7C3AED"/>
                </a:solidFill>
              </a:rPr>
              <a:t>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1545336"/>
            <a:ext cx="475488" cy="347472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154533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1984248"/>
            <a:ext cx="3364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A1F44"/>
                </a:solidFill>
              </a:rPr>
              <a:t>Testing Types &amp; Levels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2441448"/>
            <a:ext cx="3383280" cy="1905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51960" y="253288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Unit / Integration / System / UAT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282549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Functional vs Non-Functional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311810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Black Box &amp; White Box Testing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341071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Static vs Dynamic Testing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24528" y="3447288"/>
            <a:ext cx="3346704" cy="27432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79392" y="34564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📊 Testing Pyramid Visual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80" y="141732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55280" y="1417320"/>
            <a:ext cx="35661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65008" y="152704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6B6D4"/>
                </a:solidFill>
              </a:rPr>
              <a:t>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49640" y="1545336"/>
            <a:ext cx="475488" cy="347472"/>
          </a:xfrm>
          <a:prstGeom prst="roundRect">
            <a:avLst>
              <a:gd name="adj" fmla="val 8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154533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65008" y="1984248"/>
            <a:ext cx="3364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A1F44"/>
                </a:solidFill>
              </a:rPr>
              <a:t>Test Case Design Techniques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2441448"/>
            <a:ext cx="3383280" cy="1905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2440" y="253288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Equivalence Partitioning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282549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Boundary Value 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311810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Decision Table Testing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341071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State Transition Testing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65008" y="3447288"/>
            <a:ext cx="3346704" cy="274320"/>
          </a:xfrm>
          <a:prstGeom prst="roundRect">
            <a:avLst>
              <a:gd name="adj" fmla="val 8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19872" y="34564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📊 BVA Boundary Partition Chart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" y="3995928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" y="3995928"/>
            <a:ext cx="35661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10565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59E0B"/>
                </a:solidFill>
              </a:rPr>
              <a:t>🖱️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" y="4123944"/>
            <a:ext cx="475488" cy="347472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" y="412394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" y="4562856"/>
            <a:ext cx="3364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A1F44"/>
                </a:solidFill>
              </a:rPr>
              <a:t>Manual Functional Testing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020056"/>
            <a:ext cx="3383280" cy="1905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511149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Writing a Professional Test Plan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540410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Smoke &amp; Sanity Testing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569671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Regression Testing Strategies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598932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Execution &amp; Documentation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84048" y="6025896"/>
            <a:ext cx="3346704" cy="27432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8912" y="60350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📊 Test Execution Flow Diagram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114800" y="3995928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14800" y="3995928"/>
            <a:ext cx="356616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24528" y="410565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59669"/>
                </a:solidFill>
              </a:rPr>
              <a:t>🌐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09160" y="4123944"/>
            <a:ext cx="475488" cy="347472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09160" y="412394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24528" y="4562856"/>
            <a:ext cx="3364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A1F44"/>
                </a:solidFill>
              </a:rPr>
              <a:t>API Testing with Postman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06240" y="5020056"/>
            <a:ext cx="3383280" cy="1905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51960" y="511149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REST API Fundamentals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51960" y="540410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HTTP Methods &amp; Status Codes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51960" y="569671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Writing Assertions in Postman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51960" y="598932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Running Collection Runner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224528" y="6025896"/>
            <a:ext cx="3346704" cy="27432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79392" y="60350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📊 API Request/Response Flow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955280" y="3995928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955280" y="3995928"/>
            <a:ext cx="356616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65008" y="410565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C2626"/>
                </a:solidFill>
              </a:rPr>
              <a:t>🐛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549640" y="4123944"/>
            <a:ext cx="475488" cy="347472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49640" y="412394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65008" y="4562856"/>
            <a:ext cx="3364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A1F44"/>
                </a:solidFill>
              </a:rPr>
              <a:t>Defect Management &amp; Reporting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46720" y="5020056"/>
            <a:ext cx="3383280" cy="1905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092440" y="511149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Bug Life Cycle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92440" y="540410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Writing a Professional Bug Report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92440" y="569671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Severity vs Priority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92440" y="598932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Managing Tests in Jira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065008" y="6025896"/>
            <a:ext cx="3346704" cy="27432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119872" y="60350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📊 Bug Life Cycle 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Month 2 — Professional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B6D4"/>
                </a:solidFill>
              </a:rPr>
              <a:t>Advanced Tools &amp; Industry Skills  (Lectures 7 – 12)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1732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5661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52704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6B6D4"/>
                </a:solidFill>
              </a:rPr>
              <a:t>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545336"/>
            <a:ext cx="475488" cy="347472"/>
          </a:xfrm>
          <a:prstGeom prst="roundRect">
            <a:avLst>
              <a:gd name="adj" fmla="val 8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4533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984248"/>
            <a:ext cx="3364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A1F44"/>
                </a:solidFill>
              </a:rPr>
              <a:t>Introduction to Performance Testing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41448"/>
            <a:ext cx="3383280" cy="1905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53288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What is Performance Testing?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82549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Load / Stress / Spike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11810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Key Performance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41071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Performance Testing Tools Overview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447288"/>
            <a:ext cx="3346704" cy="274320"/>
          </a:xfrm>
          <a:prstGeom prst="roundRect">
            <a:avLst>
              <a:gd name="adj" fmla="val 8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34564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📊 Load vs Response Time Curve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141732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1417320"/>
            <a:ext cx="356616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24528" y="152704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56DB"/>
                </a:solidFill>
              </a:rPr>
              <a:t>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1545336"/>
            <a:ext cx="475488" cy="347472"/>
          </a:xfrm>
          <a:prstGeom prst="roundRect">
            <a:avLst>
              <a:gd name="adj" fmla="val 8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154533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1984248"/>
            <a:ext cx="3364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A1F44"/>
                </a:solidFill>
              </a:rPr>
              <a:t>JMeter — Building Test Plans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2441448"/>
            <a:ext cx="3383280" cy="1905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51960" y="253288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JMeter Interface &amp; Components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282549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Thread Groups &amp; Samplers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311810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Listeners &amp; Result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341071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Running a Full Load Test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24528" y="3447288"/>
            <a:ext cx="3346704" cy="274320"/>
          </a:xfrm>
          <a:prstGeom prst="roundRect">
            <a:avLst>
              <a:gd name="adj" fmla="val 8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79392" y="34564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📊 JMeter Results Dashboard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80" y="141732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55280" y="1417320"/>
            <a:ext cx="35661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65008" y="152704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7C3AED"/>
                </a:solidFill>
              </a:rPr>
              <a:t>🤖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49640" y="1545336"/>
            <a:ext cx="475488" cy="347472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154533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65008" y="1984248"/>
            <a:ext cx="3364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A1F44"/>
                </a:solidFill>
              </a:rPr>
              <a:t>Introduction to Test Automation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2441448"/>
            <a:ext cx="3383280" cy="1905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2440" y="253288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When to Automate? Frameworks &amp; Concepts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282549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Page Object Model (POM)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311810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Selenium + Python Basics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341071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Running Your First Automated Test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65008" y="3447288"/>
            <a:ext cx="3346704" cy="27432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19872" y="34564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📊 POM Architecture Diagram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" y="3995928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" y="3995928"/>
            <a:ext cx="35661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10565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59E0B"/>
                </a:solidFill>
              </a:rPr>
              <a:t>🐍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" y="4123944"/>
            <a:ext cx="475488" cy="347472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" y="412394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" y="4562856"/>
            <a:ext cx="3364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A1F44"/>
                </a:solidFill>
              </a:rPr>
              <a:t>Selenium WebDriver with Python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020056"/>
            <a:ext cx="3383280" cy="1905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511149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Locators: ID / XPath / CSS Selector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540410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Actions: Click / Type / Assert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569671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Waits: Implicit &amp; Explicit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598932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Running a Full Test Suite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84048" y="6025896"/>
            <a:ext cx="3346704" cy="27432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8912" y="60350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📊 Selenium Test Execution Flow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114800" y="3995928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14800" y="3995928"/>
            <a:ext cx="356616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24528" y="410565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59669"/>
                </a:solidFill>
              </a:rPr>
              <a:t>🔄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09160" y="4123944"/>
            <a:ext cx="475488" cy="347472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09160" y="412394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24528" y="4562856"/>
            <a:ext cx="3364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A1F44"/>
                </a:solidFill>
              </a:rPr>
              <a:t>CI/CD &amp; Continuous Testing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06240" y="5020056"/>
            <a:ext cx="3383280" cy="1905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51960" y="511149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CI/CD Concepts for QA Engineers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51960" y="540410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GitHub Actions for Testing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51960" y="569671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Automated Test Reporting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51960" y="598932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Agile &amp; Scrum Testing Practices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224528" y="6025896"/>
            <a:ext cx="3346704" cy="27432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79392" y="60350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📊 CI/CD Pipeline Diagram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955280" y="3995928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955280" y="3995928"/>
            <a:ext cx="356616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65008" y="410565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C2626"/>
                </a:solidFill>
              </a:rPr>
              <a:t>🏆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549640" y="4123944"/>
            <a:ext cx="475488" cy="347472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49640" y="412394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65008" y="4562856"/>
            <a:ext cx="3364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A1F44"/>
                </a:solidFill>
              </a:rPr>
              <a:t>Capstone Project &amp; Career Prep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46720" y="5020056"/>
            <a:ext cx="3383280" cy="1905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092440" y="511149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End-to-End Capstone Project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92440" y="5404104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ISTQB Foundation Level Review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92440" y="569671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Building a QA Engineer CV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92440" y="598932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▸  Job Interview Preparation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065008" y="6025896"/>
            <a:ext cx="3346704" cy="27432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119872" y="60350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📊 Capstone Project Walkthrough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29800" y="-685800"/>
            <a:ext cx="3200400" cy="3200400"/>
          </a:xfrm>
          <a:prstGeom prst="ellipse">
            <a:avLst/>
          </a:prstGeom>
          <a:solidFill>
            <a:srgbClr val="0C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28600" y="5074920"/>
            <a:ext cx="2286000" cy="2286000"/>
          </a:xfrm>
          <a:prstGeom prst="ellipse">
            <a:avLst/>
          </a:prstGeom>
          <a:solidFill>
            <a:srgbClr val="0C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🛠️  Tools &amp; Technologies You Will Master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Gain hands-on experience with the industry's leading QA and testing 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132588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103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325880"/>
            <a:ext cx="265176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59E0B"/>
                </a:solidFill>
              </a:rPr>
              <a:t>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98424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Postman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2368295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API Testing</a:t>
            </a:r>
          </a:p>
        </p:txBody>
      </p:sp>
      <p:sp>
        <p:nvSpPr>
          <p:cNvPr id="13" name="Oval 12"/>
          <p:cNvSpPr/>
          <p:nvPr/>
        </p:nvSpPr>
        <p:spPr>
          <a:xfrm>
            <a:off x="2670048" y="1508760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19272" y="132588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103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9272" y="1325880"/>
            <a:ext cx="265176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3864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56DB"/>
                </a:solidFill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198424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Apache JMeter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3864" y="2368295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Performance Testing</a:t>
            </a:r>
          </a:p>
        </p:txBody>
      </p:sp>
      <p:sp>
        <p:nvSpPr>
          <p:cNvPr id="19" name="Oval 18"/>
          <p:cNvSpPr/>
          <p:nvPr/>
        </p:nvSpPr>
        <p:spPr>
          <a:xfrm>
            <a:off x="5641848" y="1508760"/>
            <a:ext cx="146304" cy="146304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91072" y="132588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103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91072" y="1325880"/>
            <a:ext cx="265176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59669"/>
                </a:solidFill>
              </a:rP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198424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Selenium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368295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UI Test Automation</a:t>
            </a:r>
          </a:p>
        </p:txBody>
      </p:sp>
      <p:sp>
        <p:nvSpPr>
          <p:cNvPr id="25" name="Oval 24"/>
          <p:cNvSpPr/>
          <p:nvPr/>
        </p:nvSpPr>
        <p:spPr>
          <a:xfrm>
            <a:off x="8613648" y="1508760"/>
            <a:ext cx="146304" cy="14630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62872" y="1325880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103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62872" y="1325880"/>
            <a:ext cx="265176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27464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6B6D4"/>
                </a:solidFill>
              </a:rPr>
              <a:t>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27464" y="198424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27464" y="2368295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Scripting Language</a:t>
            </a:r>
          </a:p>
        </p:txBody>
      </p:sp>
      <p:sp>
        <p:nvSpPr>
          <p:cNvPr id="31" name="Oval 30"/>
          <p:cNvSpPr/>
          <p:nvPr/>
        </p:nvSpPr>
        <p:spPr>
          <a:xfrm>
            <a:off x="11585448" y="1508760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47472" y="3227832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103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7472" y="3227832"/>
            <a:ext cx="265176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" y="33649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7C3AED"/>
                </a:solidFill>
              </a:rPr>
              <a:t>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" y="388620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Jira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" y="4270247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Bug &amp; Task Tracking</a:t>
            </a:r>
          </a:p>
        </p:txBody>
      </p:sp>
      <p:sp>
        <p:nvSpPr>
          <p:cNvPr id="37" name="Oval 36"/>
          <p:cNvSpPr/>
          <p:nvPr/>
        </p:nvSpPr>
        <p:spPr>
          <a:xfrm>
            <a:off x="2670048" y="3410712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319272" y="3227832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103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19272" y="3227832"/>
            <a:ext cx="26517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83864" y="33649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DC2626"/>
                </a:solidFill>
              </a:rPr>
              <a:t>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83864" y="388620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GitHub Actions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83864" y="4270247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CI/CD Pipelines</a:t>
            </a:r>
          </a:p>
        </p:txBody>
      </p:sp>
      <p:sp>
        <p:nvSpPr>
          <p:cNvPr id="43" name="Oval 42"/>
          <p:cNvSpPr/>
          <p:nvPr/>
        </p:nvSpPr>
        <p:spPr>
          <a:xfrm>
            <a:off x="5641848" y="3410712"/>
            <a:ext cx="146304" cy="14630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91072" y="3227832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103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91072" y="3227832"/>
            <a:ext cx="265176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55664" y="33649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97316"/>
                </a:solidFill>
              </a:rPr>
              <a:t>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55664" y="388620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Git &amp; GitHub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55664" y="4270247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Version Control</a:t>
            </a:r>
          </a:p>
        </p:txBody>
      </p:sp>
      <p:sp>
        <p:nvSpPr>
          <p:cNvPr id="49" name="Oval 48"/>
          <p:cNvSpPr/>
          <p:nvPr/>
        </p:nvSpPr>
        <p:spPr>
          <a:xfrm>
            <a:off x="8613648" y="3410712"/>
            <a:ext cx="146304" cy="146304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262872" y="3227832"/>
            <a:ext cx="2651760" cy="1645920"/>
          </a:xfrm>
          <a:prstGeom prst="roundRect">
            <a:avLst>
              <a:gd name="adj" fmla="val 8000"/>
            </a:avLst>
          </a:prstGeom>
          <a:solidFill>
            <a:srgbClr val="103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62872" y="3227832"/>
            <a:ext cx="265176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27464" y="33649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56DB"/>
                </a:solidFill>
              </a:rPr>
              <a:t>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27464" y="388620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VS Code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27464" y="4270247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IDE &amp; Development</a:t>
            </a:r>
          </a:p>
        </p:txBody>
      </p:sp>
      <p:sp>
        <p:nvSpPr>
          <p:cNvPr id="55" name="Oval 54"/>
          <p:cNvSpPr/>
          <p:nvPr/>
        </p:nvSpPr>
        <p:spPr>
          <a:xfrm>
            <a:off x="11585448" y="3410712"/>
            <a:ext cx="146304" cy="146304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F44"/>
                </a:solidFill>
              </a:rPr>
              <a:t>🗺️  Learning Journey — From Beginner to QA Professional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Step-by-step weekly progress path across the 2-month program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540760"/>
            <a:ext cx="11064240" cy="508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8660" y="3360420"/>
            <a:ext cx="411480" cy="4114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3465576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2697480"/>
            <a:ext cx="1005840" cy="292608"/>
          </a:xfrm>
          <a:prstGeom prst="roundRect">
            <a:avLst>
              <a:gd name="adj" fmla="val 8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Week 1–2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13716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F44"/>
                </a:solidFill>
              </a:rPr>
              <a:t>Testing Basics
&amp; Environment Setup</a:t>
            </a:r>
          </a:p>
        </p:txBody>
      </p:sp>
      <p:sp>
        <p:nvSpPr>
          <p:cNvPr id="13" name="Oval 12"/>
          <p:cNvSpPr/>
          <p:nvPr/>
        </p:nvSpPr>
        <p:spPr>
          <a:xfrm>
            <a:off x="2628900" y="33604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34056" y="3465576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31720" y="4069080"/>
            <a:ext cx="1005840" cy="292608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406908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Week 3–4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8056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F44"/>
                </a:solidFill>
              </a:rPr>
              <a:t>Test Design
Techniques</a:t>
            </a:r>
          </a:p>
        </p:txBody>
      </p:sp>
      <p:sp>
        <p:nvSpPr>
          <p:cNvPr id="18" name="Oval 17"/>
          <p:cNvSpPr/>
          <p:nvPr/>
        </p:nvSpPr>
        <p:spPr>
          <a:xfrm>
            <a:off x="4549140" y="3360420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54296" y="3465576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51960" y="2697480"/>
            <a:ext cx="1005840" cy="292608"/>
          </a:xfrm>
          <a:prstGeom prst="roundRect">
            <a:avLst>
              <a:gd name="adj" fmla="val 8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269748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Week 5–6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40" y="13716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F44"/>
                </a:solidFill>
              </a:rPr>
              <a:t>Manual Testing
&amp; API Testing</a:t>
            </a:r>
          </a:p>
        </p:txBody>
      </p:sp>
      <p:sp>
        <p:nvSpPr>
          <p:cNvPr id="23" name="Oval 22"/>
          <p:cNvSpPr/>
          <p:nvPr/>
        </p:nvSpPr>
        <p:spPr>
          <a:xfrm>
            <a:off x="6469380" y="336042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74536" y="3465576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72200" y="4069080"/>
            <a:ext cx="1005840" cy="292608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406908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Week 7–8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448056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F44"/>
                </a:solidFill>
              </a:rPr>
              <a:t>Performance Testing
with JMeter</a:t>
            </a:r>
          </a:p>
        </p:txBody>
      </p:sp>
      <p:sp>
        <p:nvSpPr>
          <p:cNvPr id="28" name="Oval 27"/>
          <p:cNvSpPr/>
          <p:nvPr/>
        </p:nvSpPr>
        <p:spPr>
          <a:xfrm>
            <a:off x="8389620" y="3360420"/>
            <a:ext cx="411480" cy="4114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94776" y="3465576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92440" y="2697480"/>
            <a:ext cx="1005840" cy="292608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269748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Week 9–10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13716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F44"/>
                </a:solidFill>
              </a:rPr>
              <a:t>Test Automation
Selenium + Python</a:t>
            </a:r>
          </a:p>
        </p:txBody>
      </p:sp>
      <p:sp>
        <p:nvSpPr>
          <p:cNvPr id="33" name="Oval 32"/>
          <p:cNvSpPr/>
          <p:nvPr/>
        </p:nvSpPr>
        <p:spPr>
          <a:xfrm>
            <a:off x="10309860" y="3360420"/>
            <a:ext cx="411480" cy="4114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415016" y="3465576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012680" y="4069080"/>
            <a:ext cx="1005840" cy="292608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12680" y="406908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Week 11–12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448056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F44"/>
                </a:solidFill>
              </a:rPr>
              <a:t>Capstone Project
&amp; Career Prep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" y="321868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CA3AF"/>
                </a:solidFill>
              </a:rPr>
              <a:t>🚦 START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31089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9669"/>
                </a:solidFill>
              </a:rPr>
              <a:t>🏁 QA
Engineer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62910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B6D4"/>
                </a:solidFill>
              </a:rPr>
              <a:t>✅  After 8 weeks you will be qualified to apply for Junior QA Engineer roles and sit the ISTQB Foundation Level exam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👥  Who Is This Program For?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Target Audience — Who Should Enroll?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41732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274320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810512"/>
            <a:ext cx="822960" cy="8229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07592" y="1828800"/>
            <a:ext cx="768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👨‍💻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1363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F44"/>
                </a:solidFill>
              </a:rPr>
              <a:t>IT &amp; CS Graduates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3657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F2937"/>
                </a:solidFill>
              </a:rPr>
              <a:t>Recent IT or Computer Science graduates looking to enter the job market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64408" y="141732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64408" y="1417320"/>
            <a:ext cx="2743200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24528" y="1810512"/>
            <a:ext cx="822960" cy="82296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828800"/>
            <a:ext cx="768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4136" y="31363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F44"/>
                </a:solidFill>
              </a:rPr>
              <a:t>Career Changers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4136" y="3657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F2937"/>
                </a:solidFill>
              </a:rPr>
              <a:t>Professionals from other fields seeking to transition into QA engineering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141732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8776" y="1417320"/>
            <a:ext cx="274320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68896" y="1810512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96328" y="1828800"/>
            <a:ext cx="768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🧑‍💼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31363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F44"/>
                </a:solidFill>
              </a:rPr>
              <a:t>Junior Developers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4" y="3657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F2937"/>
                </a:solidFill>
              </a:rPr>
              <a:t>Software developers wanting to understand testing and improve code quality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53144" y="141732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53144" y="1417320"/>
            <a:ext cx="274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13264" y="1810512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0696" y="1828800"/>
            <a:ext cx="768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2872" y="31363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F44"/>
                </a:solidFill>
              </a:rPr>
              <a:t>Project Managers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3657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F2937"/>
                </a:solidFill>
              </a:rPr>
              <a:t>Professionals in project management who want to understand QA processes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892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1F44"/>
                </a:solidFill>
              </a:rPr>
              <a:t>Basic Enrollment Requirements: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3766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✅  No prior software testing experience required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72414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✅  Basic familiarity with computers and the internet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071616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✅  Genuine motivation to learn and grow professionally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1908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✅  A personal computer (Windows / Mac / Linux) with internet access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0" y="-685800"/>
            <a:ext cx="4114800" cy="4114800"/>
          </a:xfrm>
          <a:prstGeom prst="ellipse">
            <a:avLst/>
          </a:prstGeom>
          <a:solidFill>
            <a:srgbClr val="0C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28600" y="4343400"/>
            <a:ext cx="3200400" cy="3200400"/>
          </a:xfrm>
          <a:prstGeom prst="ellipse">
            <a:avLst/>
          </a:prstGeom>
          <a:solidFill>
            <a:srgbClr val="0C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0" y="640080"/>
            <a:ext cx="6400800" cy="6400800"/>
          </a:xfrm>
          <a:prstGeom prst="ellipse">
            <a:avLst/>
          </a:prstGeom>
          <a:solidFill>
            <a:srgbClr val="0C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914400"/>
            <a:ext cx="5120640" cy="438912"/>
          </a:xfrm>
          <a:prstGeom prst="roundRect">
            <a:avLst>
              <a:gd name="adj" fmla="val 8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93268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F44"/>
                </a:solidFill>
              </a:rPr>
              <a:t>✦  Registration Is Now Open  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554480"/>
            <a:ext cx="8686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Start Your Journey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304288"/>
            <a:ext cx="8686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6B6D4"/>
                </a:solidFill>
              </a:rPr>
              <a:t>Software Testing Today!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46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CA3AF"/>
                </a:solidFill>
              </a:rPr>
              <a:t>Software Testing Diploma for Beginners  —  8 Weeks  •  12 Lectures  •  Capstone Project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31036" y="3886200"/>
            <a:ext cx="2194560" cy="1280160"/>
          </a:xfrm>
          <a:prstGeom prst="roundRect">
            <a:avLst>
              <a:gd name="adj" fmla="val 8000"/>
            </a:avLst>
          </a:prstGeom>
          <a:solidFill>
            <a:srgbClr val="103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31036" y="3950208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6B6D4"/>
                </a:solidFill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1036" y="455371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Lectures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99916" y="3886200"/>
            <a:ext cx="2194560" cy="1280160"/>
          </a:xfrm>
          <a:prstGeom prst="roundRect">
            <a:avLst>
              <a:gd name="adj" fmla="val 8000"/>
            </a:avLst>
          </a:prstGeom>
          <a:solidFill>
            <a:srgbClr val="103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99916" y="3950208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6B6D4"/>
                </a:solidFill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9916" y="455371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Weeks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68796" y="3886200"/>
            <a:ext cx="2194560" cy="1280160"/>
          </a:xfrm>
          <a:prstGeom prst="roundRect">
            <a:avLst>
              <a:gd name="adj" fmla="val 8000"/>
            </a:avLst>
          </a:prstGeom>
          <a:solidFill>
            <a:srgbClr val="103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8796" y="3950208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6B6D4"/>
                </a:solidFill>
              </a:rPr>
              <a:t>4+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8796" y="455371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Pro 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37676" y="3886200"/>
            <a:ext cx="2194560" cy="1280160"/>
          </a:xfrm>
          <a:prstGeom prst="roundRect">
            <a:avLst>
              <a:gd name="adj" fmla="val 8000"/>
            </a:avLst>
          </a:prstGeom>
          <a:solidFill>
            <a:srgbClr val="103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37676" y="3950208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6B6D4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7676" y="455371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Certificate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5486400"/>
            <a:ext cx="3383280" cy="658368"/>
          </a:xfrm>
          <a:prstGeom prst="roundRect">
            <a:avLst>
              <a:gd name="adj" fmla="val 8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5522976"/>
            <a:ext cx="33832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1F44"/>
                </a:solidFill>
              </a:rPr>
              <a:t>Enroll Now 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640080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Contact us:  info@example.com  |  www.example.com  |  @QADiploma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