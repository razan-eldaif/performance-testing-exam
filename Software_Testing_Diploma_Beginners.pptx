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778240" y="-640080"/>
            <a:ext cx="3474720" cy="3474720"/>
          </a:xfrm>
          <a:prstGeom prst="ellipse">
            <a:avLst/>
          </a:prstGeom>
          <a:solidFill>
            <a:srgbClr val="103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607040" y="3931920"/>
            <a:ext cx="2194560" cy="2194560"/>
          </a:xfrm>
          <a:prstGeom prst="ellipse">
            <a:avLst/>
          </a:prstGeom>
          <a:solidFill>
            <a:srgbClr val="0C28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182880" y="5029200"/>
            <a:ext cx="1828800" cy="1828800"/>
          </a:xfrm>
          <a:prstGeom prst="ellipse">
            <a:avLst/>
          </a:prstGeom>
          <a:solidFill>
            <a:srgbClr val="103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97280" y="1005840"/>
            <a:ext cx="1371600" cy="347472"/>
          </a:xfrm>
          <a:prstGeom prst="roundRect">
            <a:avLst>
              <a:gd name="adj" fmla="val 8000"/>
            </a:avLst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15568" y="1024128"/>
            <a:ext cx="13533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A1F44"/>
                </a:solidFill>
              </a:rPr>
              <a:t>✦  NEW 2025</a:t>
            </a:r>
          </a:p>
        </p:txBody>
      </p:sp>
      <p:sp>
        <p:nvSpPr>
          <p:cNvPr id="9" name="Rectangle 8"/>
          <p:cNvSpPr/>
          <p:nvPr/>
        </p:nvSpPr>
        <p:spPr>
          <a:xfrm>
            <a:off x="1097280" y="1481328"/>
            <a:ext cx="1828800" cy="508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1691640"/>
            <a:ext cx="822960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 i="0">
                <a:solidFill>
                  <a:srgbClr val="FFFFFF"/>
                </a:solidFill>
              </a:rPr>
              <a:t>Software Testing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2487168"/>
            <a:ext cx="822960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 i="0">
                <a:solidFill>
                  <a:srgbClr val="06B6D4"/>
                </a:solidFill>
              </a:rPr>
              <a:t>Diploma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3273552"/>
            <a:ext cx="82296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 i="0">
                <a:solidFill>
                  <a:srgbClr val="FFFFFF"/>
                </a:solidFill>
              </a:rPr>
              <a:t>for Beginners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11480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9CA3AF"/>
                </a:solidFill>
              </a:rPr>
              <a:t>Launch your QA career — Performance Testing (ISTQB) · Automation (ISTQB) · Playwright + JS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97280" y="4773168"/>
            <a:ext cx="2468880" cy="1371600"/>
          </a:xfrm>
          <a:prstGeom prst="roundRect">
            <a:avLst>
              <a:gd name="adj" fmla="val 8000"/>
            </a:avLst>
          </a:prstGeom>
          <a:solidFill>
            <a:srgbClr val="1030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07008" y="48463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</a:rPr>
              <a:t>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07008" y="5248656"/>
            <a:ext cx="2194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6B6D4"/>
                </a:solidFill>
              </a:rPr>
              <a:t>2 Months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07008" y="5641848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</a:rPr>
              <a:t>Duration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840480" y="4773168"/>
            <a:ext cx="2468880" cy="1371600"/>
          </a:xfrm>
          <a:prstGeom prst="roundRect">
            <a:avLst>
              <a:gd name="adj" fmla="val 8000"/>
            </a:avLst>
          </a:prstGeom>
          <a:solidFill>
            <a:srgbClr val="1030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950208" y="48463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</a:rPr>
              <a:t>📚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50208" y="5248656"/>
            <a:ext cx="2194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6B6D4"/>
                </a:solidFill>
              </a:rPr>
              <a:t>14 Lectures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50208" y="5641848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</a:rPr>
              <a:t>Content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0" y="4773168"/>
            <a:ext cx="2468880" cy="1371600"/>
          </a:xfrm>
          <a:prstGeom prst="roundRect">
            <a:avLst>
              <a:gd name="adj" fmla="val 8000"/>
            </a:avLst>
          </a:prstGeom>
          <a:solidFill>
            <a:srgbClr val="1030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93408" y="48463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</a:rPr>
              <a:t>🎯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93408" y="5248656"/>
            <a:ext cx="2194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6B6D4"/>
                </a:solidFill>
              </a:rPr>
              <a:t>Beginner → Pro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93408" y="5641848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</a:rPr>
              <a:t>Level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326880" y="4773168"/>
            <a:ext cx="2468880" cy="1371600"/>
          </a:xfrm>
          <a:prstGeom prst="roundRect">
            <a:avLst>
              <a:gd name="adj" fmla="val 8000"/>
            </a:avLst>
          </a:prstGeom>
          <a:solidFill>
            <a:srgbClr val="1030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436608" y="48463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</a:rPr>
              <a:t>🏆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36608" y="5248656"/>
            <a:ext cx="2194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6B6D4"/>
                </a:solidFill>
              </a:rPr>
              <a:t>Certificate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36608" y="5641848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</a:rPr>
              <a:t>Outcome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" y="6291072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9CA3AF"/>
                </a:solidFill>
              </a:rPr>
              <a:t>Master QA fundamentals, ISTQB performance &amp; automation theory, and Playwright hands-on practice.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02920" y="3703320"/>
            <a:ext cx="3200400" cy="3200400"/>
          </a:xfrm>
          <a:prstGeom prst="ellipse">
            <a:avLst/>
          </a:prstGeom>
          <a:solidFill>
            <a:srgbClr val="0C28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32004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B6D4"/>
                </a:solidFill>
              </a:rPr>
              <a:t>ABOUT THE PROGRAM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749808"/>
            <a:ext cx="3657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What Will
You Learn?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1783080"/>
            <a:ext cx="36576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3F4F6"/>
                </a:solidFill>
              </a:rPr>
              <a:t>A hands-on 2-month program covering testing theory, ISTQB performance testing concepts, ISTQB test automation concepts, and practical Playwright + JavaScript automation. Graduates will be ready to apply for Junior QA roles and pursue ISTQB certification.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7472" y="3566160"/>
            <a:ext cx="3566160" cy="530352"/>
          </a:xfrm>
          <a:prstGeom prst="roundRect">
            <a:avLst>
              <a:gd name="adj" fmla="val 8000"/>
            </a:avLst>
          </a:prstGeom>
          <a:solidFill>
            <a:srgbClr val="1030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3639312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FFFFF"/>
                </a:solidFill>
              </a:rPr>
              <a:t>🗓️  2 Months  /  14 Lectures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7472" y="4224528"/>
            <a:ext cx="3566160" cy="530352"/>
          </a:xfrm>
          <a:prstGeom prst="roundRect">
            <a:avLst>
              <a:gd name="adj" fmla="val 8000"/>
            </a:avLst>
          </a:prstGeom>
          <a:solidFill>
            <a:srgbClr val="1030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4297680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FFFFF"/>
                </a:solidFill>
              </a:rPr>
              <a:t>📜  ISTQB-Aligned Curriculum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7472" y="4882896"/>
            <a:ext cx="3566160" cy="530352"/>
          </a:xfrm>
          <a:prstGeom prst="roundRect">
            <a:avLst>
              <a:gd name="adj" fmla="val 8000"/>
            </a:avLst>
          </a:prstGeom>
          <a:solidFill>
            <a:srgbClr val="1030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4956048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FFFFF"/>
                </a:solidFill>
              </a:rPr>
              <a:t>🤖  Playwright + JavaScript Practical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7472" y="5541264"/>
            <a:ext cx="3566160" cy="530352"/>
          </a:xfrm>
          <a:prstGeom prst="roundRect">
            <a:avLst>
              <a:gd name="adj" fmla="val 8000"/>
            </a:avLst>
          </a:prstGeom>
          <a:solidFill>
            <a:srgbClr val="1030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5614416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FFFFF"/>
                </a:solidFill>
              </a:rPr>
              <a:t>🏆  Capstone Project on GitHub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92608"/>
            <a:ext cx="7132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A1F44"/>
                </a:solidFill>
              </a:rPr>
              <a:t>Why This Program?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4400" y="868680"/>
            <a:ext cx="10058400" cy="381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572000" y="1188720"/>
            <a:ext cx="347472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0" y="1188720"/>
            <a:ext cx="3474720" cy="109728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36592" y="1353312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06B6D4"/>
                </a:solidFill>
              </a:rPr>
              <a:t>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36592" y="1847088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A1F44"/>
                </a:solidFill>
              </a:rPr>
              <a:t>ISTQB-Aligned Content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36592" y="2267712"/>
            <a:ext cx="3200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F2937"/>
                </a:solidFill>
              </a:rPr>
              <a:t>Performance testing and automation theory follows the official ISTQB Foundation &amp; Advanced syllabi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412480" y="1188720"/>
            <a:ext cx="347472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412480" y="1188720"/>
            <a:ext cx="3474720" cy="109728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77072" y="1353312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A56DB"/>
                </a:solidFill>
              </a:rPr>
              <a:t>🤖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77072" y="1847088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A1F44"/>
                </a:solidFill>
              </a:rPr>
              <a:t>Playwright + JavaScript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77072" y="2267712"/>
            <a:ext cx="3200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F2937"/>
                </a:solidFill>
              </a:rPr>
              <a:t>Hands-on automation practice with the modern industry-standard tool used by top companies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0" y="3749039"/>
            <a:ext cx="347472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572000" y="3749039"/>
            <a:ext cx="3474720" cy="10972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736592" y="3913631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F59E0B"/>
                </a:solidFill>
              </a:rPr>
              <a:t>🎓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736592" y="4407407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A1F44"/>
                </a:solidFill>
              </a:rPr>
              <a:t>Structured Curriculum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36592" y="4828031"/>
            <a:ext cx="3200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F2937"/>
                </a:solidFill>
              </a:rPr>
              <a:t>Concepts → Theory → Practice path, from fundamentals to a real deployable project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412480" y="3749039"/>
            <a:ext cx="347472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412480" y="3749039"/>
            <a:ext cx="3474720" cy="10972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577072" y="3913631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059669"/>
                </a:solidFill>
              </a:rPr>
              <a:t>🐙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77072" y="4407407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A1F44"/>
                </a:solidFill>
              </a:rPr>
              <a:t>GitHub Capstone Project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77072" y="4828031"/>
            <a:ext cx="3200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F2937"/>
                </a:solidFill>
              </a:rPr>
              <a:t>Graduate with a real automation project on GitHub — proof of skills for employers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56032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🎯  Program Objectives — What You Will Master Upon Graduation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1325880"/>
            <a:ext cx="2651760" cy="201168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325880"/>
            <a:ext cx="91440" cy="2011680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84632" y="146304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4632" y="14630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632" y="1984248"/>
            <a:ext cx="239572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0A1F44"/>
                </a:solidFill>
              </a:rPr>
              <a:t>Testing Fundamentals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" y="2404872"/>
            <a:ext cx="2395728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F2937"/>
                </a:solidFill>
              </a:rPr>
              <a:t>SDLC, STLC, testing types and levels per ISTQB Foundation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27832" y="1325880"/>
            <a:ext cx="2651760" cy="201168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27832" y="1325880"/>
            <a:ext cx="91440" cy="201168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392424" y="146304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92424" y="14630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92424" y="1984248"/>
            <a:ext cx="239572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0A1F44"/>
                </a:solidFill>
              </a:rPr>
              <a:t>Test Case Design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92424" y="2404872"/>
            <a:ext cx="2395728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F2937"/>
                </a:solidFill>
              </a:rPr>
              <a:t>Write Test Cases &amp; Test Plans per ISTQB standards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35624" y="1325880"/>
            <a:ext cx="2651760" cy="201168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35624" y="1325880"/>
            <a:ext cx="91440" cy="20116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300216" y="146304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00216" y="14630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0216" y="1984248"/>
            <a:ext cx="239572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0A1F44"/>
                </a:solidFill>
              </a:rPr>
              <a:t>Manual Testing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0216" y="2404872"/>
            <a:ext cx="2395728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F2937"/>
                </a:solidFill>
              </a:rPr>
              <a:t>Functional, Regression and Smoke Testing execution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325880"/>
            <a:ext cx="2651760" cy="201168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043416" y="1325880"/>
            <a:ext cx="91440" cy="201168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9208008" y="146304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08008" y="14630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08008" y="1984248"/>
            <a:ext cx="239572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0A1F44"/>
                </a:solidFill>
              </a:rPr>
              <a:t>API Testing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08008" y="2404872"/>
            <a:ext cx="2395728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F2937"/>
                </a:solidFill>
              </a:rPr>
              <a:t>RESTful API testing using Postman with assertions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20040" y="3538728"/>
            <a:ext cx="2651760" cy="201168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20040" y="3538728"/>
            <a:ext cx="91440" cy="201168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484632" y="3675888"/>
            <a:ext cx="457200" cy="457200"/>
          </a:xfrm>
          <a:prstGeom prst="roundRect">
            <a:avLst>
              <a:gd name="adj" fmla="val 8000"/>
            </a:avLst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84632" y="3675888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05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84632" y="4197096"/>
            <a:ext cx="239572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0A1F44"/>
                </a:solidFill>
              </a:rPr>
              <a:t>Performance Testing (ISTQB)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84632" y="4617720"/>
            <a:ext cx="2395728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F2937"/>
                </a:solidFill>
              </a:rPr>
              <a:t>Load, Stress, Spike testing concepts per ISTQB CT-PT syllabus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227832" y="3538728"/>
            <a:ext cx="2651760" cy="201168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227832" y="3538728"/>
            <a:ext cx="91440" cy="2011680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3392424" y="3675888"/>
            <a:ext cx="457200" cy="457200"/>
          </a:xfrm>
          <a:prstGeom prst="roundRect">
            <a:avLst>
              <a:gd name="adj" fmla="val 8000"/>
            </a:avLst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392424" y="3675888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06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392424" y="4197096"/>
            <a:ext cx="239572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0A1F44"/>
                </a:solidFill>
              </a:rPr>
              <a:t>Test Automation (ISTQB)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392424" y="4617720"/>
            <a:ext cx="2395728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F2937"/>
                </a:solidFill>
              </a:rPr>
              <a:t>Automation strategy, frameworks &amp; selection per ISTQB TAE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135624" y="3538728"/>
            <a:ext cx="2651760" cy="201168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135624" y="3538728"/>
            <a:ext cx="91440" cy="2011680"/>
          </a:xfrm>
          <a:prstGeom prst="rect">
            <a:avLst/>
          </a:prstGeom>
          <a:solidFill>
            <a:srgbClr val="2EA0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6300216" y="3675888"/>
            <a:ext cx="457200" cy="457200"/>
          </a:xfrm>
          <a:prstGeom prst="roundRect">
            <a:avLst>
              <a:gd name="adj" fmla="val 8000"/>
            </a:avLst>
          </a:prstGeom>
          <a:solidFill>
            <a:srgbClr val="2EA0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00216" y="3675888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07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00216" y="4197096"/>
            <a:ext cx="239572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0A1F44"/>
                </a:solidFill>
              </a:rPr>
              <a:t>Playwright + JavaScript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00216" y="4617720"/>
            <a:ext cx="2395728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F2937"/>
                </a:solidFill>
              </a:rPr>
              <a:t>Write, run and report automated tests using Playwright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043416" y="3538728"/>
            <a:ext cx="2651760" cy="201168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9043416" y="3538728"/>
            <a:ext cx="91440" cy="20116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9208008" y="3675888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208008" y="3675888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08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208008" y="4197096"/>
            <a:ext cx="239572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0A1F44"/>
                </a:solidFill>
              </a:rPr>
              <a:t>Capstone Project on GitHub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208008" y="4617720"/>
            <a:ext cx="2395728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F2937"/>
                </a:solidFill>
              </a:rPr>
              <a:t>Deliver a real test automation suite pushed to GitHub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5760" y="640080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1">
                <a:solidFill>
                  <a:srgbClr val="1A56DB"/>
                </a:solidFill>
              </a:rPr>
              <a:t>✅  Graduates are ready for Junior QA Engineer roles and ISTQB Foundation Level certification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371600" y="-1371600"/>
            <a:ext cx="3657600" cy="3657600"/>
          </a:xfrm>
          <a:prstGeom prst="ellipse">
            <a:avLst/>
          </a:prstGeom>
          <a:solidFill>
            <a:srgbClr val="0C28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058400" y="4572000"/>
            <a:ext cx="3657600" cy="3657600"/>
          </a:xfrm>
          <a:prstGeom prst="ellipse">
            <a:avLst/>
          </a:prstGeom>
          <a:solidFill>
            <a:srgbClr val="0C28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201168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Curriculum Roadmap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7772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CA3AF"/>
                </a:solidFill>
              </a:rPr>
              <a:t>14 Lectures Across 2 Months — Foundation Track → Performance &amp; Automation Track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298448"/>
            <a:ext cx="5303520" cy="502920"/>
          </a:xfrm>
          <a:prstGeom prst="roundRect">
            <a:avLst>
              <a:gd name="adj" fmla="val 8000"/>
            </a:avLst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344168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📅  Month 1 — Foundation Track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883664"/>
            <a:ext cx="5303520" cy="585216"/>
          </a:xfrm>
          <a:prstGeom prst="roundRect">
            <a:avLst>
              <a:gd name="adj" fmla="val 8000"/>
            </a:avLst>
          </a:prstGeom>
          <a:solidFill>
            <a:srgbClr val="1030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02920" y="1883664"/>
            <a:ext cx="548640" cy="585216"/>
          </a:xfrm>
          <a:prstGeom prst="roundRect">
            <a:avLst>
              <a:gd name="adj" fmla="val 8000"/>
            </a:avLst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956816"/>
            <a:ext cx="457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4712" y="192024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</a:rPr>
              <a:t>Introduction to Software Testing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4712" y="2221992"/>
            <a:ext cx="4389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CA3AF"/>
                </a:solidFill>
              </a:rPr>
              <a:t>SDLC &amp; STLC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551176"/>
            <a:ext cx="5303520" cy="585216"/>
          </a:xfrm>
          <a:prstGeom prst="roundRect">
            <a:avLst>
              <a:gd name="adj" fmla="val 8000"/>
            </a:avLst>
          </a:prstGeom>
          <a:solidFill>
            <a:srgbClr val="1030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02920" y="2551176"/>
            <a:ext cx="548640" cy="585216"/>
          </a:xfrm>
          <a:prstGeom prst="roundRect">
            <a:avLst>
              <a:gd name="adj" fmla="val 8000"/>
            </a:avLst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2624328"/>
            <a:ext cx="457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4712" y="2587752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</a:rPr>
              <a:t>Testing Types &amp; Levels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4712" y="2889504"/>
            <a:ext cx="4389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CA3AF"/>
                </a:solidFill>
              </a:rPr>
              <a:t>Black Box / White Box / Levels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3218688"/>
            <a:ext cx="5303520" cy="585216"/>
          </a:xfrm>
          <a:prstGeom prst="roundRect">
            <a:avLst>
              <a:gd name="adj" fmla="val 8000"/>
            </a:avLst>
          </a:prstGeom>
          <a:solidFill>
            <a:srgbClr val="1030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02920" y="3218688"/>
            <a:ext cx="548640" cy="585216"/>
          </a:xfrm>
          <a:prstGeom prst="roundRect">
            <a:avLst>
              <a:gd name="adj" fmla="val 8000"/>
            </a:avLst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3291840"/>
            <a:ext cx="457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4712" y="3255264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</a:rPr>
              <a:t>Test Case Design Techniques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4712" y="3557016"/>
            <a:ext cx="4389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CA3AF"/>
                </a:solidFill>
              </a:rPr>
              <a:t>Equivalence, BVA, Decision Table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3886200"/>
            <a:ext cx="5303520" cy="585216"/>
          </a:xfrm>
          <a:prstGeom prst="roundRect">
            <a:avLst>
              <a:gd name="adj" fmla="val 8000"/>
            </a:avLst>
          </a:prstGeom>
          <a:solidFill>
            <a:srgbClr val="1030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502920" y="3886200"/>
            <a:ext cx="548640" cy="585216"/>
          </a:xfrm>
          <a:prstGeom prst="roundRect">
            <a:avLst>
              <a:gd name="adj" fmla="val 8000"/>
            </a:avLst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3959352"/>
            <a:ext cx="457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4712" y="3922776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</a:rPr>
              <a:t>Manual Functional Testing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4712" y="4224528"/>
            <a:ext cx="4389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CA3AF"/>
                </a:solidFill>
              </a:rPr>
              <a:t>Test Plans, Smoke, Regression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2920" y="4553712"/>
            <a:ext cx="5303520" cy="585216"/>
          </a:xfrm>
          <a:prstGeom prst="roundRect">
            <a:avLst>
              <a:gd name="adj" fmla="val 8000"/>
            </a:avLst>
          </a:prstGeom>
          <a:solidFill>
            <a:srgbClr val="1030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502920" y="4553712"/>
            <a:ext cx="548640" cy="585216"/>
          </a:xfrm>
          <a:prstGeom prst="roundRect">
            <a:avLst>
              <a:gd name="adj" fmla="val 8000"/>
            </a:avLst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4626864"/>
            <a:ext cx="457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05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24712" y="4590288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</a:rPr>
              <a:t>API Testing with Postman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24712" y="4892040"/>
            <a:ext cx="4389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CA3AF"/>
                </a:solidFill>
              </a:rPr>
              <a:t>REST, HTTP Methods, Assertions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02920" y="5221224"/>
            <a:ext cx="5303520" cy="585216"/>
          </a:xfrm>
          <a:prstGeom prst="roundRect">
            <a:avLst>
              <a:gd name="adj" fmla="val 8000"/>
            </a:avLst>
          </a:prstGeom>
          <a:solidFill>
            <a:srgbClr val="1030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502920" y="5221224"/>
            <a:ext cx="548640" cy="585216"/>
          </a:xfrm>
          <a:prstGeom prst="roundRect">
            <a:avLst>
              <a:gd name="adj" fmla="val 8000"/>
            </a:avLst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8640" y="5294376"/>
            <a:ext cx="457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06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24712" y="525780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</a:rPr>
              <a:t>Defect Management &amp; Reporting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24712" y="5559552"/>
            <a:ext cx="4389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CA3AF"/>
                </a:solidFill>
              </a:rPr>
              <a:t>Bug Life Cycle, Jira, Severity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02920" y="5888736"/>
            <a:ext cx="5303520" cy="585216"/>
          </a:xfrm>
          <a:prstGeom prst="roundRect">
            <a:avLst>
              <a:gd name="adj" fmla="val 8000"/>
            </a:avLst>
          </a:prstGeom>
          <a:solidFill>
            <a:srgbClr val="1030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502920" y="5888736"/>
            <a:ext cx="548640" cy="585216"/>
          </a:xfrm>
          <a:prstGeom prst="roundRect">
            <a:avLst>
              <a:gd name="adj" fmla="val 8000"/>
            </a:avLst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48640" y="5961888"/>
            <a:ext cx="457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07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24712" y="5925312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</a:rPr>
              <a:t>Performance Testing — ISTQB Concepts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24712" y="6227064"/>
            <a:ext cx="4389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CA3AF"/>
                </a:solidFill>
              </a:rPr>
              <a:t>Load, Stress, Spike, Metrics (CT-PT)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492240" y="1298448"/>
            <a:ext cx="5303520" cy="502920"/>
          </a:xfrm>
          <a:prstGeom prst="roundRect">
            <a:avLst>
              <a:gd name="adj" fmla="val 8000"/>
            </a:avLst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629400" y="1344168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A1F44"/>
                </a:solidFill>
              </a:rPr>
              <a:t>📅  Month 2 — Performance &amp; Automation Track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492240" y="1883664"/>
            <a:ext cx="5303520" cy="585216"/>
          </a:xfrm>
          <a:prstGeom prst="roundRect">
            <a:avLst>
              <a:gd name="adj" fmla="val 8000"/>
            </a:avLst>
          </a:prstGeom>
          <a:solidFill>
            <a:srgbClr val="053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6492240" y="1883664"/>
            <a:ext cx="548640" cy="585216"/>
          </a:xfrm>
          <a:prstGeom prst="roundRect">
            <a:avLst>
              <a:gd name="adj" fmla="val 8000"/>
            </a:avLst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537960" y="1956816"/>
            <a:ext cx="457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A1F44"/>
                </a:solidFill>
              </a:rPr>
              <a:t>08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114032" y="192024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</a:rPr>
              <a:t>Performance Testing with JMeter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114032" y="2221992"/>
            <a:ext cx="4389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CA3AF"/>
                </a:solidFill>
              </a:rPr>
              <a:t>Thread Groups, Samplers, Reports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492240" y="2551176"/>
            <a:ext cx="5303520" cy="585216"/>
          </a:xfrm>
          <a:prstGeom prst="roundRect">
            <a:avLst>
              <a:gd name="adj" fmla="val 8000"/>
            </a:avLst>
          </a:prstGeom>
          <a:solidFill>
            <a:srgbClr val="053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6492240" y="2551176"/>
            <a:ext cx="548640" cy="585216"/>
          </a:xfrm>
          <a:prstGeom prst="roundRect">
            <a:avLst>
              <a:gd name="adj" fmla="val 8000"/>
            </a:avLst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537960" y="2624328"/>
            <a:ext cx="457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A1F44"/>
                </a:solidFill>
              </a:rPr>
              <a:t>09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114032" y="2587752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</a:rPr>
              <a:t>Test Automation — ISTQB Concepts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114032" y="2889504"/>
            <a:ext cx="4389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CA3AF"/>
                </a:solidFill>
              </a:rPr>
              <a:t>Strategy, Pyramid, TAE Syllabus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6492240" y="3218688"/>
            <a:ext cx="5303520" cy="585216"/>
          </a:xfrm>
          <a:prstGeom prst="roundRect">
            <a:avLst>
              <a:gd name="adj" fmla="val 8000"/>
            </a:avLst>
          </a:prstGeom>
          <a:solidFill>
            <a:srgbClr val="053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6492240" y="3218688"/>
            <a:ext cx="548640" cy="585216"/>
          </a:xfrm>
          <a:prstGeom prst="roundRect">
            <a:avLst>
              <a:gd name="adj" fmla="val 8000"/>
            </a:avLst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537960" y="3291840"/>
            <a:ext cx="457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A1F44"/>
                </a:solidFill>
              </a:rPr>
              <a:t>10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114032" y="3255264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</a:rPr>
              <a:t>Playwright + JavaScript — Setup &amp; Basics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114032" y="3557016"/>
            <a:ext cx="4389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CA3AF"/>
                </a:solidFill>
              </a:rPr>
              <a:t>Install, Config, First Test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6492240" y="3886200"/>
            <a:ext cx="5303520" cy="585216"/>
          </a:xfrm>
          <a:prstGeom prst="roundRect">
            <a:avLst>
              <a:gd name="adj" fmla="val 8000"/>
            </a:avLst>
          </a:prstGeom>
          <a:solidFill>
            <a:srgbClr val="053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6492240" y="3886200"/>
            <a:ext cx="548640" cy="585216"/>
          </a:xfrm>
          <a:prstGeom prst="roundRect">
            <a:avLst>
              <a:gd name="adj" fmla="val 8000"/>
            </a:avLst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537960" y="3959352"/>
            <a:ext cx="457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A1F44"/>
                </a:solidFill>
              </a:rPr>
              <a:t>11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114032" y="3922776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</a:rPr>
              <a:t>Playwright — Locators &amp; Actions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114032" y="4224528"/>
            <a:ext cx="4389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CA3AF"/>
                </a:solidFill>
              </a:rPr>
              <a:t>Selectors, Assertions, Waiting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6492240" y="4553712"/>
            <a:ext cx="5303520" cy="585216"/>
          </a:xfrm>
          <a:prstGeom prst="roundRect">
            <a:avLst>
              <a:gd name="adj" fmla="val 8000"/>
            </a:avLst>
          </a:prstGeom>
          <a:solidFill>
            <a:srgbClr val="053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6492240" y="4553712"/>
            <a:ext cx="548640" cy="585216"/>
          </a:xfrm>
          <a:prstGeom prst="roundRect">
            <a:avLst>
              <a:gd name="adj" fmla="val 8000"/>
            </a:avLst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537960" y="4626864"/>
            <a:ext cx="457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A1F44"/>
                </a:solidFill>
              </a:rPr>
              <a:t>12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114032" y="4590288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</a:rPr>
              <a:t>Playwright — Fixtures &amp; Reporting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114032" y="4892040"/>
            <a:ext cx="4389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CA3AF"/>
                </a:solidFill>
              </a:rPr>
              <a:t>Hooks, POM, HTML Reports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6492240" y="5221224"/>
            <a:ext cx="5303520" cy="585216"/>
          </a:xfrm>
          <a:prstGeom prst="roundRect">
            <a:avLst>
              <a:gd name="adj" fmla="val 8000"/>
            </a:avLst>
          </a:prstGeom>
          <a:solidFill>
            <a:srgbClr val="053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ounded Rectangle 72"/>
          <p:cNvSpPr/>
          <p:nvPr/>
        </p:nvSpPr>
        <p:spPr>
          <a:xfrm>
            <a:off x="6492240" y="5221224"/>
            <a:ext cx="548640" cy="585216"/>
          </a:xfrm>
          <a:prstGeom prst="roundRect">
            <a:avLst>
              <a:gd name="adj" fmla="val 8000"/>
            </a:avLst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537960" y="5294376"/>
            <a:ext cx="457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A1F44"/>
                </a:solidFill>
              </a:rPr>
              <a:t>13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114032" y="525780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</a:rPr>
              <a:t>CI/CD &amp; Continuous Testing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114032" y="5559552"/>
            <a:ext cx="4389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CA3AF"/>
                </a:solidFill>
              </a:rPr>
              <a:t>GitHub Actions + Playwright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6492240" y="5888736"/>
            <a:ext cx="5303520" cy="585216"/>
          </a:xfrm>
          <a:prstGeom prst="roundRect">
            <a:avLst>
              <a:gd name="adj" fmla="val 8000"/>
            </a:avLst>
          </a:prstGeom>
          <a:solidFill>
            <a:srgbClr val="053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ounded Rectangle 77"/>
          <p:cNvSpPr/>
          <p:nvPr/>
        </p:nvSpPr>
        <p:spPr>
          <a:xfrm>
            <a:off x="6492240" y="5888736"/>
            <a:ext cx="548640" cy="585216"/>
          </a:xfrm>
          <a:prstGeom prst="roundRect">
            <a:avLst>
              <a:gd name="adj" fmla="val 8000"/>
            </a:avLst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537960" y="5961888"/>
            <a:ext cx="457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A1F44"/>
                </a:solidFill>
              </a:rPr>
              <a:t>14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114032" y="5925312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</a:rPr>
              <a:t>Capstone Project &amp; Career Prep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7114032" y="6227064"/>
            <a:ext cx="4389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CA3AF"/>
                </a:solidFill>
              </a:rPr>
              <a:t>Portfolio, GitHub, ISTQB Review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852160" y="3657600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59E0B"/>
                </a:solidFill>
              </a:rPr>
              <a:t>→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3716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Month 1 — Foundation Track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749808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BEAFF"/>
                </a:solidFill>
              </a:rPr>
              <a:t>Core Skills &amp; Fundamentals  (Lectures 1 – 6)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" y="1417320"/>
            <a:ext cx="3566160" cy="237744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417320"/>
            <a:ext cx="3566160" cy="73152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1527048"/>
            <a:ext cx="457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1A56DB"/>
                </a:solidFill>
              </a:rPr>
              <a:t>🏗️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1545336"/>
            <a:ext cx="475488" cy="347472"/>
          </a:xfrm>
          <a:prstGeom prst="roundRect">
            <a:avLst>
              <a:gd name="adj" fmla="val 8000"/>
            </a:avLst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1545336"/>
            <a:ext cx="4754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" y="1984248"/>
            <a:ext cx="336499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0A1F44"/>
                </a:solidFill>
              </a:rPr>
              <a:t>Introduction to Software Testing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441448"/>
            <a:ext cx="3383280" cy="19050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2532888"/>
            <a:ext cx="3337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F2937"/>
                </a:solidFill>
              </a:rPr>
              <a:t>▸  What is Software Testing?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2825496"/>
            <a:ext cx="3337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F2937"/>
                </a:solidFill>
              </a:rPr>
              <a:t>▸  SDLC — Development Life Cycle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3118104"/>
            <a:ext cx="3337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F2937"/>
                </a:solidFill>
              </a:rPr>
              <a:t>▸  STLC — Testing Life Cycle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3410712"/>
            <a:ext cx="3337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F2937"/>
                </a:solidFill>
              </a:rPr>
              <a:t>▸  The 7 Principles of Testing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84048" y="3447288"/>
            <a:ext cx="3346704" cy="274320"/>
          </a:xfrm>
          <a:prstGeom prst="roundRect">
            <a:avLst>
              <a:gd name="adj" fmla="val 8000"/>
            </a:avLst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8912" y="3456432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</a:rPr>
              <a:t>📊 SDLC &amp; STLC Lifecycle Diagram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0" y="1417320"/>
            <a:ext cx="3566160" cy="237744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114800" y="1417320"/>
            <a:ext cx="3566160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24528" y="1527048"/>
            <a:ext cx="457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7C3AED"/>
                </a:solidFill>
              </a:rPr>
              <a:t>🔬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709160" y="1545336"/>
            <a:ext cx="475488" cy="347472"/>
          </a:xfrm>
          <a:prstGeom prst="roundRect">
            <a:avLst>
              <a:gd name="adj" fmla="val 8000"/>
            </a:avLst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09160" y="1545336"/>
            <a:ext cx="4754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24528" y="1984248"/>
            <a:ext cx="336499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0A1F44"/>
                </a:solidFill>
              </a:rPr>
              <a:t>Testing Types &amp; Levels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06240" y="2441448"/>
            <a:ext cx="3383280" cy="19050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51960" y="2532888"/>
            <a:ext cx="3337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F2937"/>
                </a:solidFill>
              </a:rPr>
              <a:t>▸  Unit / Integration / System / UAT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51960" y="2825496"/>
            <a:ext cx="3337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F2937"/>
                </a:solidFill>
              </a:rPr>
              <a:t>▸  Functional vs Non-Functional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51960" y="3118104"/>
            <a:ext cx="3337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F2937"/>
                </a:solidFill>
              </a:rPr>
              <a:t>▸  Black Box &amp; White Box Testing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51960" y="3410712"/>
            <a:ext cx="3337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F2937"/>
                </a:solidFill>
              </a:rPr>
              <a:t>▸  Static vs Dynamic Testing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224528" y="3447288"/>
            <a:ext cx="3346704" cy="274320"/>
          </a:xfrm>
          <a:prstGeom prst="roundRect">
            <a:avLst>
              <a:gd name="adj" fmla="val 8000"/>
            </a:avLst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79392" y="3456432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</a:rPr>
              <a:t>📊 Testing Pyramid Visual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955280" y="1417320"/>
            <a:ext cx="3566160" cy="237744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955280" y="1417320"/>
            <a:ext cx="3566160" cy="7315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065008" y="1527048"/>
            <a:ext cx="457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06B6D4"/>
                </a:solidFill>
              </a:rPr>
              <a:t>📝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549640" y="1545336"/>
            <a:ext cx="475488" cy="347472"/>
          </a:xfrm>
          <a:prstGeom prst="roundRect">
            <a:avLst>
              <a:gd name="adj" fmla="val 8000"/>
            </a:avLst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549640" y="1545336"/>
            <a:ext cx="4754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03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65008" y="1984248"/>
            <a:ext cx="336499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0A1F44"/>
                </a:solidFill>
              </a:rPr>
              <a:t>Test Case Design Techniques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046720" y="2441448"/>
            <a:ext cx="3383280" cy="19050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092440" y="2532888"/>
            <a:ext cx="3337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F2937"/>
                </a:solidFill>
              </a:rPr>
              <a:t>▸  Equivalence Partitioning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092440" y="2825496"/>
            <a:ext cx="3337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F2937"/>
                </a:solidFill>
              </a:rPr>
              <a:t>▸  Boundary Value Analysis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092440" y="3118104"/>
            <a:ext cx="3337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F2937"/>
                </a:solidFill>
              </a:rPr>
              <a:t>▸  Decision Table Testing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092440" y="3410712"/>
            <a:ext cx="3337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F2937"/>
                </a:solidFill>
              </a:rPr>
              <a:t>▸  State Transition Testing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065008" y="3447288"/>
            <a:ext cx="3346704" cy="274320"/>
          </a:xfrm>
          <a:prstGeom prst="roundRect">
            <a:avLst>
              <a:gd name="adj" fmla="val 8000"/>
            </a:avLst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119872" y="3456432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</a:rPr>
              <a:t>📊 BVA Partition Chart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74320" y="3995928"/>
            <a:ext cx="3566160" cy="237744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74320" y="3995928"/>
            <a:ext cx="3566160" cy="7315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84048" y="4105656"/>
            <a:ext cx="457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59E0B"/>
                </a:solidFill>
              </a:rPr>
              <a:t>🖱️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68680" y="4123944"/>
            <a:ext cx="475488" cy="347472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68680" y="4123944"/>
            <a:ext cx="4754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04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84048" y="4562856"/>
            <a:ext cx="336499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0A1F44"/>
                </a:solidFill>
              </a:rPr>
              <a:t>Manual Functional Testing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65760" y="5020056"/>
            <a:ext cx="3383280" cy="19050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11480" y="5111496"/>
            <a:ext cx="3337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F2937"/>
                </a:solidFill>
              </a:rPr>
              <a:t>▸  Writing a Professional Test Plan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11480" y="5404104"/>
            <a:ext cx="3337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F2937"/>
                </a:solidFill>
              </a:rPr>
              <a:t>▸  Smoke &amp; Sanity Testing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11480" y="5696712"/>
            <a:ext cx="3337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F2937"/>
                </a:solidFill>
              </a:rPr>
              <a:t>▸  Regression Testing Strategies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11480" y="5989320"/>
            <a:ext cx="3337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F2937"/>
                </a:solidFill>
              </a:rPr>
              <a:t>▸  Execution &amp; Documentation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384048" y="6025896"/>
            <a:ext cx="3346704" cy="27432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38912" y="6035040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</a:rPr>
              <a:t>📊 Test Execution Flow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4114800" y="3995928"/>
            <a:ext cx="3566160" cy="237744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4114800" y="3995928"/>
            <a:ext cx="3566160" cy="7315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224528" y="4105656"/>
            <a:ext cx="457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059669"/>
                </a:solidFill>
              </a:rPr>
              <a:t>🌐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4709160" y="4123944"/>
            <a:ext cx="475488" cy="347472"/>
          </a:xfrm>
          <a:prstGeom prst="roundRect">
            <a:avLst>
              <a:gd name="adj" fmla="val 8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709160" y="4123944"/>
            <a:ext cx="4754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05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224528" y="4562856"/>
            <a:ext cx="336499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0A1F44"/>
                </a:solidFill>
              </a:rPr>
              <a:t>API Testing with Postman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206240" y="5020056"/>
            <a:ext cx="3383280" cy="19050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251960" y="5111496"/>
            <a:ext cx="3337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F2937"/>
                </a:solidFill>
              </a:rPr>
              <a:t>▸  REST API Fundamentals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251960" y="5404104"/>
            <a:ext cx="3337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F2937"/>
                </a:solidFill>
              </a:rPr>
              <a:t>▸  HTTP Methods &amp; Status Codes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251960" y="5696712"/>
            <a:ext cx="3337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F2937"/>
                </a:solidFill>
              </a:rPr>
              <a:t>▸  Writing Assertions in Postman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251960" y="5989320"/>
            <a:ext cx="3337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F2937"/>
                </a:solidFill>
              </a:rPr>
              <a:t>▸  Running Collection Runner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4224528" y="6025896"/>
            <a:ext cx="3346704" cy="274320"/>
          </a:xfrm>
          <a:prstGeom prst="roundRect">
            <a:avLst>
              <a:gd name="adj" fmla="val 8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279392" y="6035040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</a:rPr>
              <a:t>📊 API Request/Response Flow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7955280" y="3995928"/>
            <a:ext cx="3566160" cy="237744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955280" y="3995928"/>
            <a:ext cx="3566160" cy="73152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8065008" y="4105656"/>
            <a:ext cx="457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DC2626"/>
                </a:solidFill>
              </a:rPr>
              <a:t>🐛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8549640" y="4123944"/>
            <a:ext cx="475488" cy="347472"/>
          </a:xfrm>
          <a:prstGeom prst="roundRect">
            <a:avLst>
              <a:gd name="adj" fmla="val 8000"/>
            </a:avLst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8549640" y="4123944"/>
            <a:ext cx="4754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06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065008" y="4562856"/>
            <a:ext cx="336499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0A1F44"/>
                </a:solidFill>
              </a:rPr>
              <a:t>Defect Management &amp; Reporting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46720" y="5020056"/>
            <a:ext cx="3383280" cy="19050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092440" y="5111496"/>
            <a:ext cx="3337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F2937"/>
                </a:solidFill>
              </a:rPr>
              <a:t>▸  Bug Life Cycle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092440" y="5404104"/>
            <a:ext cx="3337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F2937"/>
                </a:solidFill>
              </a:rPr>
              <a:t>▸  Writing a Professional Bug Report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092440" y="5696712"/>
            <a:ext cx="3337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F2937"/>
                </a:solidFill>
              </a:rPr>
              <a:t>▸  Severity vs Priority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092440" y="5989320"/>
            <a:ext cx="3337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F2937"/>
                </a:solidFill>
              </a:rPr>
              <a:t>▸  Managing Tests in Jira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8065008" y="6025896"/>
            <a:ext cx="3346704" cy="274320"/>
          </a:xfrm>
          <a:prstGeom prst="roundRect">
            <a:avLst>
              <a:gd name="adj" fmla="val 8000"/>
            </a:avLst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8119872" y="6035040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</a:rPr>
              <a:t>📊 Bug Life Cycle Flow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3716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Month 2 — Performance &amp; Automation Track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749808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6B6D4"/>
                </a:solidFill>
              </a:rPr>
              <a:t>ISTQB Concepts + Playwright + JavaScript  (Lectures 7 – 14)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" y="1417320"/>
            <a:ext cx="3566160" cy="237744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417320"/>
            <a:ext cx="3566160" cy="7315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1527048"/>
            <a:ext cx="457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06B6D4"/>
                </a:solidFill>
              </a:rPr>
              <a:t>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1545336"/>
            <a:ext cx="475488" cy="347472"/>
          </a:xfrm>
          <a:prstGeom prst="roundRect">
            <a:avLst>
              <a:gd name="adj" fmla="val 8000"/>
            </a:avLst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1545336"/>
            <a:ext cx="4754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07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" y="1984248"/>
            <a:ext cx="336499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A1F44"/>
                </a:solidFill>
              </a:rPr>
              <a:t>Performance Testing — ISTQB Concepts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441448"/>
            <a:ext cx="3383280" cy="19050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2532888"/>
            <a:ext cx="3337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F2937"/>
                </a:solidFill>
              </a:rPr>
              <a:t>▸  Types: Load / Stress / Spike / Soak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2825496"/>
            <a:ext cx="3337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F2937"/>
                </a:solidFill>
              </a:rPr>
              <a:t>▸  Key Metrics: TPS, Response Time, Throughput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3118104"/>
            <a:ext cx="3337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F2937"/>
                </a:solidFill>
              </a:rPr>
              <a:t>▸  ISTQB CT-PT Syllabus Topics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3410712"/>
            <a:ext cx="3337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F2937"/>
                </a:solidFill>
              </a:rPr>
              <a:t>▸  Test Environment Considerations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84048" y="3447288"/>
            <a:ext cx="3346704" cy="274320"/>
          </a:xfrm>
          <a:prstGeom prst="roundRect">
            <a:avLst>
              <a:gd name="adj" fmla="val 8000"/>
            </a:avLst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8912" y="3456432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</a:rPr>
              <a:t>📊 Load vs Response Time Curve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0" y="1417320"/>
            <a:ext cx="3566160" cy="237744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114800" y="1417320"/>
            <a:ext cx="3566160" cy="73152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24528" y="1527048"/>
            <a:ext cx="457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1A56DB"/>
                </a:solidFill>
              </a:rPr>
              <a:t>📊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709160" y="1545336"/>
            <a:ext cx="475488" cy="347472"/>
          </a:xfrm>
          <a:prstGeom prst="roundRect">
            <a:avLst>
              <a:gd name="adj" fmla="val 8000"/>
            </a:avLst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09160" y="1545336"/>
            <a:ext cx="4754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08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24528" y="1984248"/>
            <a:ext cx="336499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A1F44"/>
                </a:solidFill>
              </a:rPr>
              <a:t>Performance Testing with JMeter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06240" y="2441448"/>
            <a:ext cx="3383280" cy="19050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51960" y="2532888"/>
            <a:ext cx="3337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F2937"/>
                </a:solidFill>
              </a:rPr>
              <a:t>▸  JMeter Interface &amp; Components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51960" y="2825496"/>
            <a:ext cx="3337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F2937"/>
                </a:solidFill>
              </a:rPr>
              <a:t>▸  Thread Groups &amp; Samplers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51960" y="3118104"/>
            <a:ext cx="3337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F2937"/>
                </a:solidFill>
              </a:rPr>
              <a:t>▸  Listeners &amp; Result Analysis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51960" y="3410712"/>
            <a:ext cx="3337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F2937"/>
                </a:solidFill>
              </a:rPr>
              <a:t>▸  Running a Full Load Test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224528" y="3447288"/>
            <a:ext cx="3346704" cy="274320"/>
          </a:xfrm>
          <a:prstGeom prst="roundRect">
            <a:avLst>
              <a:gd name="adj" fmla="val 8000"/>
            </a:avLst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79392" y="3456432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</a:rPr>
              <a:t>📊 JMeter Results Dashboard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955280" y="1417320"/>
            <a:ext cx="3566160" cy="237744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955280" y="1417320"/>
            <a:ext cx="3566160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065008" y="1527048"/>
            <a:ext cx="457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7C3AED"/>
                </a:solidFill>
              </a:rPr>
              <a:t>🤖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549640" y="1545336"/>
            <a:ext cx="475488" cy="347472"/>
          </a:xfrm>
          <a:prstGeom prst="roundRect">
            <a:avLst>
              <a:gd name="adj" fmla="val 8000"/>
            </a:avLst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549640" y="1545336"/>
            <a:ext cx="4754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09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65008" y="1984248"/>
            <a:ext cx="336499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A1F44"/>
                </a:solidFill>
              </a:rPr>
              <a:t>Test Automation — ISTQB Concepts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046720" y="2441448"/>
            <a:ext cx="3383280" cy="19050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092440" y="2532888"/>
            <a:ext cx="3337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F2937"/>
                </a:solidFill>
              </a:rPr>
              <a:t>▸  ISTQB TAE Syllabus Overview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092440" y="2825496"/>
            <a:ext cx="3337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F2937"/>
                </a:solidFill>
              </a:rPr>
              <a:t>▸  When to Automate? ROI Analysis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092440" y="3118104"/>
            <a:ext cx="3337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F2937"/>
                </a:solidFill>
              </a:rPr>
              <a:t>▸  Automation Pyramid &amp; Strategy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092440" y="3410712"/>
            <a:ext cx="3337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F2937"/>
                </a:solidFill>
              </a:rPr>
              <a:t>▸  Automation Framework Types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065008" y="3447288"/>
            <a:ext cx="3346704" cy="274320"/>
          </a:xfrm>
          <a:prstGeom prst="roundRect">
            <a:avLst>
              <a:gd name="adj" fmla="val 8000"/>
            </a:avLst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119872" y="3456432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</a:rPr>
              <a:t>📊 Automation Decision Diagram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74320" y="3995928"/>
            <a:ext cx="3566160" cy="237744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74320" y="3995928"/>
            <a:ext cx="3566160" cy="73152"/>
          </a:xfrm>
          <a:prstGeom prst="rect">
            <a:avLst/>
          </a:prstGeom>
          <a:solidFill>
            <a:srgbClr val="2EA0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84048" y="4105656"/>
            <a:ext cx="457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2EA044"/>
                </a:solidFill>
              </a:rPr>
              <a:t>🎭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68680" y="4123944"/>
            <a:ext cx="475488" cy="347472"/>
          </a:xfrm>
          <a:prstGeom prst="roundRect">
            <a:avLst>
              <a:gd name="adj" fmla="val 8000"/>
            </a:avLst>
          </a:prstGeom>
          <a:solidFill>
            <a:srgbClr val="2EA0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68680" y="4123944"/>
            <a:ext cx="4754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10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84048" y="4562856"/>
            <a:ext cx="336499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A1F44"/>
                </a:solidFill>
              </a:rPr>
              <a:t>Playwright + JavaScript — Basics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65760" y="5020056"/>
            <a:ext cx="3383280" cy="19050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11480" y="5111496"/>
            <a:ext cx="3337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F2937"/>
                </a:solidFill>
              </a:rPr>
              <a:t>▸  Installing Playwright with npm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11480" y="5404104"/>
            <a:ext cx="3337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F2937"/>
                </a:solidFill>
              </a:rPr>
              <a:t>▸  Project configuration (playwright.config.js)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11480" y="5696712"/>
            <a:ext cx="3337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F2937"/>
                </a:solidFill>
              </a:rPr>
              <a:t>▸  Writing your first test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11480" y="5989320"/>
            <a:ext cx="3337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F2937"/>
                </a:solidFill>
              </a:rPr>
              <a:t>▸  Running tests &amp; viewing reports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384048" y="6025896"/>
            <a:ext cx="3346704" cy="274320"/>
          </a:xfrm>
          <a:prstGeom prst="roundRect">
            <a:avLst>
              <a:gd name="adj" fmla="val 8000"/>
            </a:avLst>
          </a:prstGeom>
          <a:solidFill>
            <a:srgbClr val="2EA0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38912" y="6035040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</a:rPr>
              <a:t>📊 Playwright Setup Walkthrough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4114800" y="3995928"/>
            <a:ext cx="3566160" cy="237744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4114800" y="3995928"/>
            <a:ext cx="3566160" cy="7315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224528" y="4105656"/>
            <a:ext cx="457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59E0B"/>
                </a:solidFill>
              </a:rPr>
              <a:t>🔍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4709160" y="4123944"/>
            <a:ext cx="475488" cy="347472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709160" y="4123944"/>
            <a:ext cx="4754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11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224528" y="4562856"/>
            <a:ext cx="336499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A1F44"/>
                </a:solidFill>
              </a:rPr>
              <a:t>Playwright — Locators &amp; Assertions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206240" y="5020056"/>
            <a:ext cx="3383280" cy="19050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251960" y="5111496"/>
            <a:ext cx="3337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F2937"/>
                </a:solidFill>
              </a:rPr>
              <a:t>▸  Locators: getByRole, getByText, CSS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251960" y="5404104"/>
            <a:ext cx="3337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F2937"/>
                </a:solidFill>
              </a:rPr>
              <a:t>▸  Actions: click, fill, navigate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251960" y="5696712"/>
            <a:ext cx="3337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F2937"/>
                </a:solidFill>
              </a:rPr>
              <a:t>▸  Assertions: expect().toBeVisible()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251960" y="5989320"/>
            <a:ext cx="3337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F2937"/>
                </a:solidFill>
              </a:rPr>
              <a:t>▸  Waiting strategies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4224528" y="6025896"/>
            <a:ext cx="3346704" cy="27432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279392" y="6035040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</a:rPr>
              <a:t>📊 Playwright Test Code Demo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7955280" y="3995928"/>
            <a:ext cx="3566160" cy="237744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955280" y="3995928"/>
            <a:ext cx="3566160" cy="7315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8065008" y="4105656"/>
            <a:ext cx="457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059669"/>
                </a:solidFill>
              </a:rPr>
              <a:t>🔄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8549640" y="4123944"/>
            <a:ext cx="475488" cy="347472"/>
          </a:xfrm>
          <a:prstGeom prst="roundRect">
            <a:avLst>
              <a:gd name="adj" fmla="val 8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8549640" y="4123944"/>
            <a:ext cx="4754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12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065008" y="4562856"/>
            <a:ext cx="336499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A1F44"/>
                </a:solidFill>
              </a:rPr>
              <a:t>CI/CD + Capstone Project on GitHub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46720" y="5020056"/>
            <a:ext cx="3383280" cy="19050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092440" y="5111496"/>
            <a:ext cx="3337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F2937"/>
                </a:solidFill>
              </a:rPr>
              <a:t>▸  GitHub Actions + Playwright workflow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092440" y="5404104"/>
            <a:ext cx="3337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F2937"/>
                </a:solidFill>
              </a:rPr>
              <a:t>▸  End-to-End Capstone Project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092440" y="5696712"/>
            <a:ext cx="3337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F2937"/>
                </a:solidFill>
              </a:rPr>
              <a:t>▸  Building a QA Portfolio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092440" y="5989320"/>
            <a:ext cx="3337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F2937"/>
                </a:solidFill>
              </a:rPr>
              <a:t>▸  ISTQB Review &amp; Career Prep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8065008" y="6025896"/>
            <a:ext cx="3346704" cy="274320"/>
          </a:xfrm>
          <a:prstGeom prst="roundRect">
            <a:avLst>
              <a:gd name="adj" fmla="val 8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8119872" y="6035040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</a:rPr>
              <a:t>📊 CI/CD + GitHub Flow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01168"/>
            <a:ext cx="114300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⚡  Performance Testing — ISTQB Concepts  (CT-PT Syllabus)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82296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6B6D4"/>
                </a:solidFill>
              </a:rPr>
              <a:t>Covers ISTQB Certified Tester — Performance Testing (CT-PT) foundation concepts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508760"/>
            <a:ext cx="5486400" cy="457200"/>
          </a:xfrm>
          <a:prstGeom prst="roundRect">
            <a:avLst>
              <a:gd name="adj" fmla="val 8000"/>
            </a:avLst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536192"/>
            <a:ext cx="52120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📋  Performance Testing Types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2103120"/>
            <a:ext cx="5486400" cy="621792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0040" y="2103120"/>
            <a:ext cx="128016" cy="62179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1208" y="2139696"/>
            <a:ext cx="1508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B6D4"/>
                </a:solidFill>
              </a:rPr>
              <a:t>Load Testing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2139696"/>
            <a:ext cx="36118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Validates system behavior under expected concurrent user load.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0040" y="2816352"/>
            <a:ext cx="5486400" cy="621792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0040" y="2816352"/>
            <a:ext cx="128016" cy="621792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1208" y="2852928"/>
            <a:ext cx="1508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56DB"/>
                </a:solidFill>
              </a:rPr>
              <a:t>Stress Testing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57400" y="2852928"/>
            <a:ext cx="36118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Pushes beyond normal limits to find breaking points.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0040" y="3529584"/>
            <a:ext cx="5486400" cy="621792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0040" y="3529584"/>
            <a:ext cx="128016" cy="6217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1208" y="3566160"/>
            <a:ext cx="1508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9E0B"/>
                </a:solidFill>
              </a:rPr>
              <a:t>Spike Testing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57400" y="3566160"/>
            <a:ext cx="36118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Sudden, large increase in load to check system recovery.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0040" y="4242816"/>
            <a:ext cx="5486400" cy="621792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20040" y="4242816"/>
            <a:ext cx="128016" cy="62179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21208" y="4279392"/>
            <a:ext cx="1508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59669"/>
                </a:solidFill>
              </a:rPr>
              <a:t>Soak / Endurance Testing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57400" y="4279392"/>
            <a:ext cx="36118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Sustained load over a long period to detect memory leaks.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20040" y="4956048"/>
            <a:ext cx="5486400" cy="621792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20040" y="4956048"/>
            <a:ext cx="128016" cy="62179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21208" y="4992624"/>
            <a:ext cx="1508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7C3AED"/>
                </a:solidFill>
              </a:rPr>
              <a:t>Scalability Testing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057400" y="4992624"/>
            <a:ext cx="36118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Measures system's ability to scale up under increasing load.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20040" y="5669280"/>
            <a:ext cx="5486400" cy="621792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20040" y="5669280"/>
            <a:ext cx="128016" cy="621792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21208" y="5705856"/>
            <a:ext cx="1508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DC2626"/>
                </a:solidFill>
              </a:rPr>
              <a:t>Volume Testing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57400" y="5705856"/>
            <a:ext cx="36118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Tests system performance with large volumes of data.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263640" y="1508760"/>
            <a:ext cx="5577840" cy="457200"/>
          </a:xfrm>
          <a:prstGeom prst="roundRect">
            <a:avLst>
              <a:gd name="adj" fmla="val 8000"/>
            </a:avLst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0" y="1536192"/>
            <a:ext cx="53035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📊  Key Performance Metrics (ISTQB)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63640" y="2103120"/>
            <a:ext cx="5577840" cy="621792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6364224" y="2313432"/>
            <a:ext cx="201168" cy="201168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47688" y="2139696"/>
            <a:ext cx="1691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A1F44"/>
                </a:solidFill>
              </a:rPr>
              <a:t>Response Time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66760" y="2139696"/>
            <a:ext cx="33375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Time from request sent to response received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263640" y="2816352"/>
            <a:ext cx="5577840" cy="621792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364224" y="3026664"/>
            <a:ext cx="201168" cy="201168"/>
          </a:xfrm>
          <a:prstGeom prst="ellipse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647688" y="2852928"/>
            <a:ext cx="1691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A1F44"/>
                </a:solidFill>
              </a:rPr>
              <a:t>Throughput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66760" y="2852928"/>
            <a:ext cx="33375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Number of transactions processed per second (TPS)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263640" y="3529584"/>
            <a:ext cx="5577840" cy="621792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6364224" y="3739896"/>
            <a:ext cx="201168" cy="20116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647688" y="3566160"/>
            <a:ext cx="1691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A1F44"/>
                </a:solidFill>
              </a:rPr>
              <a:t>Concurrent Users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66760" y="3566160"/>
            <a:ext cx="33375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Number of users simultaneously active on the system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263640" y="4242816"/>
            <a:ext cx="5577840" cy="621792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6364224" y="4453128"/>
            <a:ext cx="201168" cy="201168"/>
          </a:xfrm>
          <a:prstGeom prst="ellipse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647688" y="4279392"/>
            <a:ext cx="1691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A1F44"/>
                </a:solidFill>
              </a:rPr>
              <a:t>Error Rate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66760" y="4279392"/>
            <a:ext cx="33375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Percentage of requests that result in errors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263640" y="4956048"/>
            <a:ext cx="5577840" cy="621792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6364224" y="5166360"/>
            <a:ext cx="201168" cy="201168"/>
          </a:xfrm>
          <a:prstGeom prst="ellipse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647688" y="4992624"/>
            <a:ext cx="1691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A1F44"/>
                </a:solidFill>
              </a:rPr>
              <a:t>CPU &amp; Memory Usage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366760" y="4992624"/>
            <a:ext cx="33375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Server resource utilization under load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263640" y="5669280"/>
            <a:ext cx="5577840" cy="621792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6364224" y="5879592"/>
            <a:ext cx="201168" cy="201168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647688" y="5705856"/>
            <a:ext cx="1691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A1F44"/>
                </a:solidFill>
              </a:rPr>
              <a:t>90th Percentile (P90)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366760" y="5705856"/>
            <a:ext cx="33375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Response time under which 90% of requests fall</a:t>
            </a:r>
          </a:p>
        </p:txBody>
      </p:sp>
      <p:sp>
        <p:nvSpPr>
          <p:cNvPr id="59" name="Rectangle 58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65760" y="6528816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1">
                <a:solidFill>
                  <a:srgbClr val="06B6D4"/>
                </a:solidFill>
              </a:rPr>
              <a:t>ISTQB CT-PT: Performance testing is a specialist quality characteristic — not just running JMeter scripts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01168"/>
            <a:ext cx="114300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🤖  Test Automation — ISTQB Concepts  (TAE Syllabus)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82296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BEAFF"/>
                </a:solidFill>
              </a:rPr>
              <a:t>Based on ISTQB Certified Tester — Test Automation Engineer (CT-TAE) syllabus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481328"/>
            <a:ext cx="5349240" cy="457200"/>
          </a:xfrm>
          <a:prstGeom prst="roundRect">
            <a:avLst>
              <a:gd name="adj" fmla="val 8000"/>
            </a:avLst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9768" y="1508760"/>
            <a:ext cx="51206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🎯  When Should You Automate? (ISTQB Criteria)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2057400"/>
            <a:ext cx="5349240" cy="566928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20040" y="2057400"/>
            <a:ext cx="960120" cy="566928"/>
          </a:xfrm>
          <a:prstGeom prst="roundRect">
            <a:avLst>
              <a:gd name="adj" fmla="val 8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4904" y="2148840"/>
            <a:ext cx="868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✅ Automate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44168" y="2130552"/>
            <a:ext cx="4160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F2937"/>
                </a:solidFill>
              </a:rPr>
              <a:t>Repetitive, stable, regression test cases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0040" y="2715768"/>
            <a:ext cx="5349240" cy="566928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20040" y="2715768"/>
            <a:ext cx="960120" cy="566928"/>
          </a:xfrm>
          <a:prstGeom prst="roundRect">
            <a:avLst>
              <a:gd name="adj" fmla="val 8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4904" y="2807208"/>
            <a:ext cx="868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✅ Automate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44168" y="2788920"/>
            <a:ext cx="4160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F2937"/>
                </a:solidFill>
              </a:rPr>
              <a:t>Data-driven tests with many input combinations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0040" y="3374136"/>
            <a:ext cx="5349240" cy="566928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20040" y="3374136"/>
            <a:ext cx="960120" cy="566928"/>
          </a:xfrm>
          <a:prstGeom prst="roundRect">
            <a:avLst>
              <a:gd name="adj" fmla="val 8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74904" y="3465576"/>
            <a:ext cx="868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✅ Automate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44168" y="3447288"/>
            <a:ext cx="4160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F2937"/>
                </a:solidFill>
              </a:rPr>
              <a:t>Smoke &amp; sanity tests run on every build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0040" y="4032504"/>
            <a:ext cx="5349240" cy="566928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20040" y="4032504"/>
            <a:ext cx="960120" cy="566928"/>
          </a:xfrm>
          <a:prstGeom prst="roundRect">
            <a:avLst>
              <a:gd name="adj" fmla="val 8000"/>
            </a:avLst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74904" y="4123944"/>
            <a:ext cx="868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❌ Don't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44168" y="4105656"/>
            <a:ext cx="4160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F2937"/>
                </a:solidFill>
              </a:rPr>
              <a:t>Exploratory, usability, or one-time test cases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20040" y="4690872"/>
            <a:ext cx="5349240" cy="566928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20040" y="4690872"/>
            <a:ext cx="960120" cy="566928"/>
          </a:xfrm>
          <a:prstGeom prst="roundRect">
            <a:avLst>
              <a:gd name="adj" fmla="val 8000"/>
            </a:avLst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74904" y="4782312"/>
            <a:ext cx="868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❌ Don't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44168" y="4764024"/>
            <a:ext cx="4160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F2937"/>
                </a:solidFill>
              </a:rPr>
              <a:t>Tests on frequently changing UI before stabilization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20040" y="5440680"/>
            <a:ext cx="5349240" cy="457200"/>
          </a:xfrm>
          <a:prstGeom prst="roundRect">
            <a:avLst>
              <a:gd name="adj" fmla="val 8000"/>
            </a:avLst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29768" y="5468112"/>
            <a:ext cx="51206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🔺  Automation Pyramid (ISTQB)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308860" y="5989320"/>
            <a:ext cx="1371600" cy="228600"/>
          </a:xfrm>
          <a:prstGeom prst="roundRect">
            <a:avLst>
              <a:gd name="adj" fmla="val 8000"/>
            </a:avLst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11480" y="6007608"/>
            <a:ext cx="5166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A1F44"/>
                </a:solidFill>
              </a:rPr>
              <a:t>E2E / UI Tests  — Small number, high cost, slow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668780" y="6245352"/>
            <a:ext cx="2651760" cy="22860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263640"/>
            <a:ext cx="5166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A1F44"/>
                </a:solidFill>
              </a:rPr>
              <a:t>Integration Tests  — Medium layer, API level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28700" y="6501384"/>
            <a:ext cx="3931920" cy="228600"/>
          </a:xfrm>
          <a:prstGeom prst="roundRect">
            <a:avLst>
              <a:gd name="adj" fmla="val 8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11480" y="6519672"/>
            <a:ext cx="5166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A1F44"/>
                </a:solidFill>
              </a:rPr>
              <a:t>Unit Tests  — Most tests, fast, low cost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126480" y="1481328"/>
            <a:ext cx="5715000" cy="457200"/>
          </a:xfrm>
          <a:prstGeom prst="roundRect">
            <a:avLst>
              <a:gd name="adj" fmla="val 8000"/>
            </a:avLst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36208" y="1508760"/>
            <a:ext cx="54864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🏗️  Automation Framework Types (ISTQB TAE)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126480" y="2084831"/>
            <a:ext cx="5715000" cy="713232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126480" y="2084831"/>
            <a:ext cx="128016" cy="713232"/>
          </a:xfrm>
          <a:prstGeom prst="rect">
            <a:avLst/>
          </a:prstGeom>
          <a:solidFill>
            <a:srgbClr val="2EA0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27648" y="2121407"/>
            <a:ext cx="1600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EA044"/>
                </a:solidFill>
              </a:rPr>
              <a:t>Data-Driven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55280" y="2121407"/>
            <a:ext cx="3749039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Test logic is separate from test data. Data read from CSV / JSON / Excel.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126480" y="2889503"/>
            <a:ext cx="5715000" cy="713232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126480" y="2889503"/>
            <a:ext cx="128016" cy="713232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27648" y="2926079"/>
            <a:ext cx="1600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56DB"/>
                </a:solidFill>
              </a:rPr>
              <a:t>Keyword-Driven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955280" y="2926079"/>
            <a:ext cx="3749039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Tests described as keyword tables. Testers write keywords not code.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126480" y="3694175"/>
            <a:ext cx="5715000" cy="713232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126480" y="3694175"/>
            <a:ext cx="128016" cy="71323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327648" y="3730751"/>
            <a:ext cx="1600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59E0B"/>
                </a:solidFill>
              </a:rPr>
              <a:t>Page Object Model (POM)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55280" y="3730751"/>
            <a:ext cx="3749039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Each page represented as a class. Separates UI structure from test logic.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126480" y="4498847"/>
            <a:ext cx="5715000" cy="713232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126480" y="4498847"/>
            <a:ext cx="128016" cy="71323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327648" y="4535423"/>
            <a:ext cx="1600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59669"/>
                </a:solidFill>
              </a:rPr>
              <a:t>Behaviour-Driven (BDD)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955280" y="4535423"/>
            <a:ext cx="3749039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Tests written in Gherkin (Given/When/Then). Business-readable.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126480" y="5303519"/>
            <a:ext cx="5715000" cy="713232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6126480" y="5303519"/>
            <a:ext cx="128016" cy="71323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327648" y="5340095"/>
            <a:ext cx="1600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7C3AED"/>
                </a:solidFill>
              </a:rPr>
              <a:t>Modular / Hybrid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955280" y="5340095"/>
            <a:ext cx="3749039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Combines multiple approaches. Most real projects use a hybrid framework.</a:t>
            </a:r>
          </a:p>
        </p:txBody>
      </p:sp>
      <p:sp>
        <p:nvSpPr>
          <p:cNvPr id="59" name="Rectangle 58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65760" y="6528816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1">
                <a:solidFill>
                  <a:srgbClr val="FFFFFF"/>
                </a:solidFill>
              </a:rPr>
              <a:t>ISTQB TAE: Automation is a project — it requires a strategy, maintenance plan, and clear ROI justification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372600" y="-1143000"/>
            <a:ext cx="4114800" cy="4114800"/>
          </a:xfrm>
          <a:prstGeom prst="ellipse">
            <a:avLst/>
          </a:prstGeom>
          <a:solidFill>
            <a:srgbClr val="052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640080" y="4846320"/>
            <a:ext cx="2743200" cy="2743200"/>
          </a:xfrm>
          <a:prstGeom prst="ellipse">
            <a:avLst/>
          </a:prstGeom>
          <a:solidFill>
            <a:srgbClr val="052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A0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64592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🎭  Playwright + JavaScript — Hands-On Example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CA3AF"/>
                </a:solidFill>
              </a:rPr>
              <a:t>Modern, reliable, fast end-to-end testing for web apps — used by Microsoft, Google, and thousands of teams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0040" y="1261872"/>
            <a:ext cx="3657600" cy="411480"/>
          </a:xfrm>
          <a:prstGeom prst="roundRect">
            <a:avLst>
              <a:gd name="adj" fmla="val 8000"/>
            </a:avLst>
          </a:prstGeom>
          <a:solidFill>
            <a:srgbClr val="2EA0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9768" y="1280160"/>
            <a:ext cx="3474720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What is Playwright?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755648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🚀  Cross-browser: Chromium, Firefox, WebKit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322576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⚡  Auto-waits — no flaky setTimeout()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889504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🔍  Powerful locators: getByRole, getByText, CSS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456432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📊  Built-in HTML reporter + trace viewer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023360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🔄  Works with CI/CD out of the box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0040" y="4709160"/>
            <a:ext cx="3657600" cy="384048"/>
          </a:xfrm>
          <a:prstGeom prst="roundRect">
            <a:avLst>
              <a:gd name="adj" fmla="val 8000"/>
            </a:avLst>
          </a:prstGeom>
          <a:solidFill>
            <a:srgbClr val="2EA0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9768" y="4727448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⚙️  Setup (3 commands)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0040" y="5166360"/>
            <a:ext cx="3657600" cy="310896"/>
          </a:xfrm>
          <a:prstGeom prst="roundRect">
            <a:avLst>
              <a:gd name="adj" fmla="val 8000"/>
            </a:avLst>
          </a:prstGeom>
          <a:solidFill>
            <a:srgbClr val="052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9768" y="5166360"/>
            <a:ext cx="347472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0">
                <a:solidFill>
                  <a:srgbClr val="2EA044"/>
                </a:solidFill>
              </a:rPr>
              <a:t>$ npm init -y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20040" y="5513832"/>
            <a:ext cx="3657600" cy="310896"/>
          </a:xfrm>
          <a:prstGeom prst="roundRect">
            <a:avLst>
              <a:gd name="adj" fmla="val 8000"/>
            </a:avLst>
          </a:prstGeom>
          <a:solidFill>
            <a:srgbClr val="052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9768" y="5513832"/>
            <a:ext cx="347472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0">
                <a:solidFill>
                  <a:srgbClr val="2EA044"/>
                </a:solidFill>
              </a:rPr>
              <a:t>$ npm install --save-dev @playwright/test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0040" y="5861304"/>
            <a:ext cx="3657600" cy="310896"/>
          </a:xfrm>
          <a:prstGeom prst="roundRect">
            <a:avLst>
              <a:gd name="adj" fmla="val 8000"/>
            </a:avLst>
          </a:prstGeom>
          <a:solidFill>
            <a:srgbClr val="052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9768" y="5861304"/>
            <a:ext cx="347472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0">
                <a:solidFill>
                  <a:srgbClr val="2EA044"/>
                </a:solidFill>
              </a:rPr>
              <a:t>$ npx playwright install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20040" y="6208776"/>
            <a:ext cx="3657600" cy="310896"/>
          </a:xfrm>
          <a:prstGeom prst="roundRect">
            <a:avLst>
              <a:gd name="adj" fmla="val 8000"/>
            </a:avLst>
          </a:prstGeom>
          <a:solidFill>
            <a:srgbClr val="052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29768" y="6208776"/>
            <a:ext cx="347472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 i="0">
                <a:solidFill>
                  <a:srgbClr val="2EA044"/>
                </a:solidFill>
              </a:rPr>
              <a:t>$ npx playwright test   # run all tests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51960" y="1261872"/>
            <a:ext cx="4754880" cy="411480"/>
          </a:xfrm>
          <a:prstGeom prst="roundRect">
            <a:avLst>
              <a:gd name="adj" fmla="val 8000"/>
            </a:avLst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61688" y="1280160"/>
            <a:ext cx="4572000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📄  Example Test: Login Page (JavaScript)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251960" y="1737360"/>
            <a:ext cx="4754880" cy="4937760"/>
          </a:xfrm>
          <a:prstGeom prst="roundRect">
            <a:avLst>
              <a:gd name="adj" fmla="val 8000"/>
            </a:avLst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16552" y="1828800"/>
            <a:ext cx="4434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50" b="0" i="0">
                <a:solidFill>
                  <a:srgbClr val="9CA3AF"/>
                </a:solidFill>
              </a:rPr>
              <a:t>// tests/login.spec.js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16552" y="2103120"/>
            <a:ext cx="4434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50" b="0" i="0">
                <a:solidFill>
                  <a:srgbClr val="DBEAFF"/>
                </a:solidFill>
              </a:rPr>
              <a:t>import { test, expect } from '@playwright/test';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16552" y="2377440"/>
            <a:ext cx="4434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16552" y="2651760"/>
            <a:ext cx="4434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50" b="0" i="0">
                <a:solidFill>
                  <a:srgbClr val="F59E0B"/>
                </a:solidFill>
              </a:rPr>
              <a:t>test.describe('Login Page', () =&gt; {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16552" y="2926080"/>
            <a:ext cx="4434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16552" y="3200400"/>
            <a:ext cx="4434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</a:rPr>
              <a:t>  test('valid login redirects to dashboard', async ({ page }) =&gt; {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16552" y="3474720"/>
            <a:ext cx="4434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50" b="0" i="0">
                <a:solidFill>
                  <a:srgbClr val="06B6D4"/>
                </a:solidFill>
              </a:rPr>
              <a:t>    await page.goto('https://example.com/login');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16552" y="3749040"/>
            <a:ext cx="4434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16552" y="4023360"/>
            <a:ext cx="4434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50" b="0" i="0">
                <a:solidFill>
                  <a:srgbClr val="2EA044"/>
                </a:solidFill>
              </a:rPr>
              <a:t>    await page.getByLabel('Email').fill('user@qa.com');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416552" y="4297680"/>
            <a:ext cx="4434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50" b="0" i="0">
                <a:solidFill>
                  <a:srgbClr val="2EA044"/>
                </a:solidFill>
              </a:rPr>
              <a:t>    await page.getByLabel('Password').fill('Secret1!');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16552" y="4572000"/>
            <a:ext cx="4434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50" b="0" i="0">
                <a:solidFill>
                  <a:srgbClr val="2EA044"/>
                </a:solidFill>
              </a:rPr>
              <a:t>    await page.getByRole('button', { name: 'Login' }).click();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416552" y="4846320"/>
            <a:ext cx="4434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416552" y="5120640"/>
            <a:ext cx="4434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50" b="0" i="0">
                <a:solidFill>
                  <a:srgbClr val="F59E0B"/>
                </a:solidFill>
              </a:rPr>
              <a:t>    await expect(page).toHaveURL('/dashboard');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416552" y="5394960"/>
            <a:ext cx="4434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50" b="0" i="0">
                <a:solidFill>
                  <a:srgbClr val="F59E0B"/>
                </a:solidFill>
              </a:rPr>
              <a:t>    await expect(page.getByText('Welcome')).toBeVisible();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416552" y="5669280"/>
            <a:ext cx="4434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</a:rPr>
              <a:t>  });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416552" y="5943600"/>
            <a:ext cx="4434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50" b="0" i="0">
                <a:solidFill>
                  <a:srgbClr val="F59E0B"/>
                </a:solidFill>
              </a:rPr>
              <a:t>});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326880" y="1261872"/>
            <a:ext cx="2514600" cy="411480"/>
          </a:xfrm>
          <a:prstGeom prst="roundRect">
            <a:avLst>
              <a:gd name="adj" fmla="val 8000"/>
            </a:avLst>
          </a:prstGeom>
          <a:solidFill>
            <a:srgbClr val="2EA0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436608" y="1280160"/>
            <a:ext cx="2377440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🔑  Key Concepts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326880" y="1755648"/>
            <a:ext cx="2514600" cy="594360"/>
          </a:xfrm>
          <a:prstGeom prst="roundRect">
            <a:avLst>
              <a:gd name="adj" fmla="val 8000"/>
            </a:avLst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9441180" y="1979676"/>
            <a:ext cx="137160" cy="137160"/>
          </a:xfrm>
          <a:prstGeom prst="ellipse">
            <a:avLst/>
          </a:prstGeom>
          <a:solidFill>
            <a:srgbClr val="2EA0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674352" y="1792224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2EA044"/>
                </a:solidFill>
              </a:rPr>
              <a:t>page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674352" y="2084832"/>
            <a:ext cx="2103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CA3AF"/>
                </a:solidFill>
              </a:rPr>
              <a:t>Browser tab context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326880" y="2423160"/>
            <a:ext cx="2514600" cy="594360"/>
          </a:xfrm>
          <a:prstGeom prst="roundRect">
            <a:avLst>
              <a:gd name="adj" fmla="val 8000"/>
            </a:avLst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9441180" y="2647188"/>
            <a:ext cx="137160" cy="137160"/>
          </a:xfrm>
          <a:prstGeom prst="ellipse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674352" y="2459736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A56DB"/>
                </a:solidFill>
              </a:rPr>
              <a:t>locator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674352" y="2752344"/>
            <a:ext cx="2103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CA3AF"/>
                </a:solidFill>
              </a:rPr>
              <a:t>Element finder strategy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9326880" y="3090672"/>
            <a:ext cx="2514600" cy="594360"/>
          </a:xfrm>
          <a:prstGeom prst="roundRect">
            <a:avLst>
              <a:gd name="adj" fmla="val 8000"/>
            </a:avLst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9441180" y="3314700"/>
            <a:ext cx="137160" cy="13716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674352" y="3127248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59E0B"/>
                </a:solidFill>
              </a:rPr>
              <a:t>expect()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674352" y="3419856"/>
            <a:ext cx="2103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CA3AF"/>
                </a:solidFill>
              </a:rPr>
              <a:t>Assertion with auto-retry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9326880" y="3758184"/>
            <a:ext cx="2514600" cy="594360"/>
          </a:xfrm>
          <a:prstGeom prst="roundRect">
            <a:avLst>
              <a:gd name="adj" fmla="val 8000"/>
            </a:avLst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9441180" y="3982212"/>
            <a:ext cx="137160" cy="13716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674352" y="379476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06B6D4"/>
                </a:solidFill>
              </a:rPr>
              <a:t>test.beforeEach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674352" y="4087368"/>
            <a:ext cx="2103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CA3AF"/>
                </a:solidFill>
              </a:rPr>
              <a:t>Setup hook per test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9326880" y="4425696"/>
            <a:ext cx="2514600" cy="594360"/>
          </a:xfrm>
          <a:prstGeom prst="roundRect">
            <a:avLst>
              <a:gd name="adj" fmla="val 8000"/>
            </a:avLst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9441180" y="4649724"/>
            <a:ext cx="137160" cy="137160"/>
          </a:xfrm>
          <a:prstGeom prst="ellipse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674352" y="4462272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059669"/>
                </a:solidFill>
              </a:rPr>
              <a:t>fixtures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674352" y="4754880"/>
            <a:ext cx="2103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CA3AF"/>
                </a:solidFill>
              </a:rPr>
              <a:t>Shared browser/page setup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9326880" y="5093208"/>
            <a:ext cx="2514600" cy="594360"/>
          </a:xfrm>
          <a:prstGeom prst="roundRect">
            <a:avLst>
              <a:gd name="adj" fmla="val 8000"/>
            </a:avLst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9441180" y="5317236"/>
            <a:ext cx="137160" cy="13716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674352" y="5129784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7C3AED"/>
                </a:solidFill>
              </a:rPr>
              <a:t>POM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674352" y="5422392"/>
            <a:ext cx="2103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CA3AF"/>
                </a:solidFill>
              </a:rPr>
              <a:t>Page Object Model pattern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9326880" y="5760720"/>
            <a:ext cx="2514600" cy="594360"/>
          </a:xfrm>
          <a:prstGeom prst="roundRect">
            <a:avLst>
              <a:gd name="adj" fmla="val 8000"/>
            </a:avLst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9441180" y="5984748"/>
            <a:ext cx="137160" cy="13716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674352" y="5797296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06B6D4"/>
                </a:solidFill>
              </a:rPr>
              <a:t>trace viewer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674352" y="6089904"/>
            <a:ext cx="2103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CA3AF"/>
                </a:solidFill>
              </a:rPr>
              <a:t>Record &amp; replay test runs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692640" y="3291840"/>
            <a:ext cx="3474720" cy="3474720"/>
          </a:xfrm>
          <a:prstGeom prst="ellipse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201168"/>
            <a:ext cx="114300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🐙  Capstone Project — Build &amp; Upload to GitHub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6B6D4"/>
                </a:solidFill>
              </a:rPr>
              <a:t>Your final project is a real Playwright + JavaScript test automation suite — pushed to your own GitHub repo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0040" y="1536192"/>
            <a:ext cx="5394960" cy="45720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563624"/>
            <a:ext cx="51206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📦  What You Will Build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2084831"/>
            <a:ext cx="5394960" cy="9144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" y="2084831"/>
            <a:ext cx="128016" cy="9144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21208" y="2176271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59E0B"/>
                </a:solidFill>
              </a:rPr>
              <a:t>🎭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" y="2157983"/>
            <a:ext cx="4526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A1F44"/>
                </a:solidFill>
              </a:rPr>
              <a:t>Playwright Test Suite (JavaScript)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" y="2505455"/>
            <a:ext cx="4526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≥ 10 automated test cases covering a real web app (login, search, checkout, etc.)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0040" y="3090671"/>
            <a:ext cx="5394960" cy="9144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20040" y="3090671"/>
            <a:ext cx="128016" cy="9144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21208" y="3182111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59E0B"/>
                </a:solidFill>
              </a:rPr>
              <a:t>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" y="3163823"/>
            <a:ext cx="4526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A1F44"/>
                </a:solidFill>
              </a:rPr>
              <a:t>Performance Test Report (JMeter)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" y="3511295"/>
            <a:ext cx="4526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Load test results with screenshots, analysis, and recommendations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0040" y="4096511"/>
            <a:ext cx="5394960" cy="9144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20040" y="4096511"/>
            <a:ext cx="128016" cy="9144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1208" y="4187951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59E0B"/>
                </a:solidFill>
              </a:rPr>
              <a:t>🐛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3272" y="4169663"/>
            <a:ext cx="4526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A1F44"/>
                </a:solidFill>
              </a:rPr>
              <a:t>Bug Reports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33272" y="4517135"/>
            <a:ext cx="4526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At least 3 professional bug reports filed in Jira or as GitHub Issues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20040" y="5102351"/>
            <a:ext cx="5394960" cy="9144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20040" y="5102351"/>
            <a:ext cx="128016" cy="9144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21208" y="5193791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59E0B"/>
                </a:solidFill>
              </a:rPr>
              <a:t>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33272" y="5175503"/>
            <a:ext cx="4526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A1F44"/>
                </a:solidFill>
              </a:rPr>
              <a:t>Test Plan Document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33272" y="5522975"/>
            <a:ext cx="4526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</a:rPr>
              <a:t>A written test plan following ISTQB structure covering scope, approach, and schedule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080760" y="1536192"/>
            <a:ext cx="5760720" cy="457200"/>
          </a:xfrm>
          <a:prstGeom prst="roundRect">
            <a:avLst>
              <a:gd name="adj" fmla="val 8000"/>
            </a:avLst>
          </a:prstGeom>
          <a:solidFill>
            <a:srgbClr val="1B1F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17920" y="1563624"/>
            <a:ext cx="54864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🐙  How to Submit — GitHub Step-by-Step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080760" y="2084831"/>
            <a:ext cx="5760720" cy="658368"/>
          </a:xfrm>
          <a:prstGeom prst="roundRect">
            <a:avLst>
              <a:gd name="adj" fmla="val 8000"/>
            </a:avLst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190488" y="2194559"/>
            <a:ext cx="438912" cy="438912"/>
          </a:xfrm>
          <a:prstGeom prst="roundRect">
            <a:avLst>
              <a:gd name="adj" fmla="val 8000"/>
            </a:avLst>
          </a:prstGeom>
          <a:solidFill>
            <a:srgbClr val="2EA0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190488" y="2194559"/>
            <a:ext cx="43891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720840" y="2139695"/>
            <a:ext cx="4983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2EA044"/>
                </a:solidFill>
              </a:rPr>
              <a:t>Create a new public GitHub repository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20840" y="2450591"/>
            <a:ext cx="4983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CA3AF"/>
                </a:solidFill>
              </a:rPr>
              <a:t>Named: your-name-qa-capstone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080760" y="2834639"/>
            <a:ext cx="5760720" cy="658368"/>
          </a:xfrm>
          <a:prstGeom prst="roundRect">
            <a:avLst>
              <a:gd name="adj" fmla="val 8000"/>
            </a:avLst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6190488" y="2944367"/>
            <a:ext cx="438912" cy="438912"/>
          </a:xfrm>
          <a:prstGeom prst="roundRect">
            <a:avLst>
              <a:gd name="adj" fmla="val 8000"/>
            </a:avLst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190488" y="2944367"/>
            <a:ext cx="43891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20840" y="2889503"/>
            <a:ext cx="4983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1A56DB"/>
                </a:solidFill>
              </a:rPr>
              <a:t>Clone the repo locally and add your project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720840" y="3200399"/>
            <a:ext cx="4983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CA3AF"/>
                </a:solidFill>
              </a:rPr>
              <a:t>git clone &lt;url&gt;  then copy in your Playwright project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080760" y="3584447"/>
            <a:ext cx="5760720" cy="658368"/>
          </a:xfrm>
          <a:prstGeom prst="roundRect">
            <a:avLst>
              <a:gd name="adj" fmla="val 8000"/>
            </a:avLst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6190488" y="3694175"/>
            <a:ext cx="438912" cy="438912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190488" y="3694175"/>
            <a:ext cx="43891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720840" y="3639311"/>
            <a:ext cx="4983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F59E0B"/>
                </a:solidFill>
              </a:rPr>
              <a:t>Commit &amp; push your test suite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720840" y="3950207"/>
            <a:ext cx="4983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CA3AF"/>
                </a:solidFill>
              </a:rPr>
              <a:t>git add .  →  git commit -m 'initial tests'  →  git push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080760" y="4334255"/>
            <a:ext cx="5760720" cy="658368"/>
          </a:xfrm>
          <a:prstGeom prst="roundRect">
            <a:avLst>
              <a:gd name="adj" fmla="val 8000"/>
            </a:avLst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6190488" y="4443983"/>
            <a:ext cx="438912" cy="438912"/>
          </a:xfrm>
          <a:prstGeom prst="roundRect">
            <a:avLst>
              <a:gd name="adj" fmla="val 8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190488" y="4443983"/>
            <a:ext cx="43891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720840" y="4389119"/>
            <a:ext cx="4983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059669"/>
                </a:solidFill>
              </a:rPr>
              <a:t>Add a GitHub Actions workflow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720840" y="4700015"/>
            <a:ext cx="4983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CA3AF"/>
                </a:solidFill>
              </a:rPr>
              <a:t>.github/workflows/playwright.yml — runs tests on every push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080760" y="5084063"/>
            <a:ext cx="5760720" cy="658368"/>
          </a:xfrm>
          <a:prstGeom prst="roundRect">
            <a:avLst>
              <a:gd name="adj" fmla="val 8000"/>
            </a:avLst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6190488" y="5193791"/>
            <a:ext cx="438912" cy="438912"/>
          </a:xfrm>
          <a:prstGeom prst="roundRect">
            <a:avLst>
              <a:gd name="adj" fmla="val 8000"/>
            </a:avLst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190488" y="5193791"/>
            <a:ext cx="43891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720840" y="5138927"/>
            <a:ext cx="4983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7C3AED"/>
                </a:solidFill>
              </a:rPr>
              <a:t>Write a professional README.md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720840" y="5449823"/>
            <a:ext cx="4983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CA3AF"/>
                </a:solidFill>
              </a:rPr>
              <a:t>Project description, how to install, how to run, what is tested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6080760" y="5833871"/>
            <a:ext cx="5760720" cy="658368"/>
          </a:xfrm>
          <a:prstGeom prst="roundRect">
            <a:avLst>
              <a:gd name="adj" fmla="val 8000"/>
            </a:avLst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6190488" y="5943599"/>
            <a:ext cx="438912" cy="438912"/>
          </a:xfrm>
          <a:prstGeom prst="roundRect">
            <a:avLst>
              <a:gd name="adj" fmla="val 8000"/>
            </a:avLst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190488" y="5943599"/>
            <a:ext cx="43891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720840" y="5888735"/>
            <a:ext cx="4983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06B6D4"/>
                </a:solidFill>
              </a:rPr>
              <a:t>Share the link with your instructor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720840" y="6199631"/>
            <a:ext cx="4983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CA3AF"/>
                </a:solidFill>
              </a:rPr>
              <a:t>Submit your public GitHub repo URL for grading</a:t>
            </a:r>
          </a:p>
        </p:txBody>
      </p:sp>
      <p:sp>
        <p:nvSpPr>
          <p:cNvPr id="62" name="Rectangle 61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65760" y="6528816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1">
                <a:solidFill>
                  <a:srgbClr val="06B6D4"/>
                </a:solidFill>
              </a:rPr>
              <a:t>🏆  Graduates who complete the project get their Certificate + GitHub repo highlighted in our graduate showcase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829800" y="-685800"/>
            <a:ext cx="3200400" cy="3200400"/>
          </a:xfrm>
          <a:prstGeom prst="ellipse">
            <a:avLst/>
          </a:prstGeom>
          <a:solidFill>
            <a:srgbClr val="0C28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-228600" y="5074920"/>
            <a:ext cx="2286000" cy="2286000"/>
          </a:xfrm>
          <a:prstGeom prst="ellipse">
            <a:avLst/>
          </a:prstGeom>
          <a:solidFill>
            <a:srgbClr val="0C28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64592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🛠️  Tools &amp; Technologies You Will Master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749808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CA3AF"/>
                </a:solidFill>
              </a:rPr>
              <a:t>Hands-on experience with industry-leading QA, performance, and automation tools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7472" y="1325880"/>
            <a:ext cx="2651760" cy="1645920"/>
          </a:xfrm>
          <a:prstGeom prst="roundRect">
            <a:avLst>
              <a:gd name="adj" fmla="val 8000"/>
            </a:avLst>
          </a:prstGeom>
          <a:solidFill>
            <a:srgbClr val="1030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47472" y="1325880"/>
            <a:ext cx="2651760" cy="914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12064" y="146304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F59E0B"/>
                </a:solidFill>
              </a:rPr>
              <a:t>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064" y="1984248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Postman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064" y="2368295"/>
            <a:ext cx="2423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</a:rPr>
              <a:t>API Testing</a:t>
            </a:r>
          </a:p>
        </p:txBody>
      </p:sp>
      <p:sp>
        <p:nvSpPr>
          <p:cNvPr id="13" name="Oval 12"/>
          <p:cNvSpPr/>
          <p:nvPr/>
        </p:nvSpPr>
        <p:spPr>
          <a:xfrm>
            <a:off x="2670048" y="1508760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319272" y="1325880"/>
            <a:ext cx="2651760" cy="1645920"/>
          </a:xfrm>
          <a:prstGeom prst="roundRect">
            <a:avLst>
              <a:gd name="adj" fmla="val 8000"/>
            </a:avLst>
          </a:prstGeom>
          <a:solidFill>
            <a:srgbClr val="1030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19272" y="1325880"/>
            <a:ext cx="2651760" cy="91440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83864" y="146304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A56DB"/>
                </a:solidFill>
              </a:rPr>
              <a:t>📊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83864" y="1984248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Apache JMeter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83864" y="2368295"/>
            <a:ext cx="2423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</a:rPr>
              <a:t>Performance Testing</a:t>
            </a:r>
          </a:p>
        </p:txBody>
      </p:sp>
      <p:sp>
        <p:nvSpPr>
          <p:cNvPr id="19" name="Oval 18"/>
          <p:cNvSpPr/>
          <p:nvPr/>
        </p:nvSpPr>
        <p:spPr>
          <a:xfrm>
            <a:off x="5641848" y="1508760"/>
            <a:ext cx="146304" cy="146304"/>
          </a:xfrm>
          <a:prstGeom prst="ellipse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291072" y="1325880"/>
            <a:ext cx="2651760" cy="1645920"/>
          </a:xfrm>
          <a:prstGeom prst="roundRect">
            <a:avLst>
              <a:gd name="adj" fmla="val 8000"/>
            </a:avLst>
          </a:prstGeom>
          <a:solidFill>
            <a:srgbClr val="1030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91072" y="1325880"/>
            <a:ext cx="2651760" cy="91440"/>
          </a:xfrm>
          <a:prstGeom prst="rect">
            <a:avLst/>
          </a:prstGeom>
          <a:solidFill>
            <a:srgbClr val="2EA0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146304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2EA044"/>
                </a:solidFill>
              </a:rPr>
              <a:t>🎭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1984248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Playwright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2368295"/>
            <a:ext cx="2423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</a:rPr>
              <a:t>UI Test Automation</a:t>
            </a:r>
          </a:p>
        </p:txBody>
      </p:sp>
      <p:sp>
        <p:nvSpPr>
          <p:cNvPr id="25" name="Oval 24"/>
          <p:cNvSpPr/>
          <p:nvPr/>
        </p:nvSpPr>
        <p:spPr>
          <a:xfrm>
            <a:off x="8613648" y="1508760"/>
            <a:ext cx="146304" cy="146304"/>
          </a:xfrm>
          <a:prstGeom prst="ellipse">
            <a:avLst/>
          </a:prstGeom>
          <a:solidFill>
            <a:srgbClr val="2EA0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9262872" y="1325880"/>
            <a:ext cx="2651760" cy="1645920"/>
          </a:xfrm>
          <a:prstGeom prst="roundRect">
            <a:avLst>
              <a:gd name="adj" fmla="val 8000"/>
            </a:avLst>
          </a:prstGeom>
          <a:solidFill>
            <a:srgbClr val="1030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262872" y="1325880"/>
            <a:ext cx="2651760" cy="9144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27464" y="146304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06B6D4"/>
                </a:solidFill>
              </a:rPr>
              <a:t>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27464" y="1984248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JavaScript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27464" y="2368295"/>
            <a:ext cx="2423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</a:rPr>
              <a:t>Scripting Language</a:t>
            </a:r>
          </a:p>
        </p:txBody>
      </p:sp>
      <p:sp>
        <p:nvSpPr>
          <p:cNvPr id="31" name="Oval 30"/>
          <p:cNvSpPr/>
          <p:nvPr/>
        </p:nvSpPr>
        <p:spPr>
          <a:xfrm>
            <a:off x="11585448" y="1508760"/>
            <a:ext cx="146304" cy="146304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347472" y="3227832"/>
            <a:ext cx="2651760" cy="1645920"/>
          </a:xfrm>
          <a:prstGeom prst="roundRect">
            <a:avLst>
              <a:gd name="adj" fmla="val 8000"/>
            </a:avLst>
          </a:prstGeom>
          <a:solidFill>
            <a:srgbClr val="1030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47472" y="3227832"/>
            <a:ext cx="265176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12064" y="3364992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7C3AED"/>
                </a:solidFill>
              </a:rPr>
              <a:t>🐛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12064" y="3886200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Jira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2064" y="4270247"/>
            <a:ext cx="2423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</a:rPr>
              <a:t>Bug &amp; Task Tracking</a:t>
            </a:r>
          </a:p>
        </p:txBody>
      </p:sp>
      <p:sp>
        <p:nvSpPr>
          <p:cNvPr id="37" name="Oval 36"/>
          <p:cNvSpPr/>
          <p:nvPr/>
        </p:nvSpPr>
        <p:spPr>
          <a:xfrm>
            <a:off x="2670048" y="3410712"/>
            <a:ext cx="146304" cy="146304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3319272" y="3227832"/>
            <a:ext cx="2651760" cy="1645920"/>
          </a:xfrm>
          <a:prstGeom prst="roundRect">
            <a:avLst>
              <a:gd name="adj" fmla="val 8000"/>
            </a:avLst>
          </a:prstGeom>
          <a:solidFill>
            <a:srgbClr val="1030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319272" y="3227832"/>
            <a:ext cx="2651760" cy="9144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483864" y="3364992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DC2626"/>
                </a:solidFill>
              </a:rPr>
              <a:t>🔄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483864" y="3886200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GitHub Actions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483864" y="4270247"/>
            <a:ext cx="2423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</a:rPr>
              <a:t>CI/CD Pipelines</a:t>
            </a:r>
          </a:p>
        </p:txBody>
      </p:sp>
      <p:sp>
        <p:nvSpPr>
          <p:cNvPr id="43" name="Oval 42"/>
          <p:cNvSpPr/>
          <p:nvPr/>
        </p:nvSpPr>
        <p:spPr>
          <a:xfrm>
            <a:off x="5641848" y="3410712"/>
            <a:ext cx="146304" cy="146304"/>
          </a:xfrm>
          <a:prstGeom prst="ellipse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6291072" y="3227832"/>
            <a:ext cx="2651760" cy="1645920"/>
          </a:xfrm>
          <a:prstGeom prst="roundRect">
            <a:avLst>
              <a:gd name="adj" fmla="val 8000"/>
            </a:avLst>
          </a:prstGeom>
          <a:solidFill>
            <a:srgbClr val="1030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291072" y="3227832"/>
            <a:ext cx="2651760" cy="914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455664" y="3364992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F97316"/>
                </a:solidFill>
              </a:rPr>
              <a:t>🐙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55664" y="3886200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Git &amp; GitHub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55664" y="4270247"/>
            <a:ext cx="2423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</a:rPr>
              <a:t>Version Control</a:t>
            </a:r>
          </a:p>
        </p:txBody>
      </p:sp>
      <p:sp>
        <p:nvSpPr>
          <p:cNvPr id="49" name="Oval 48"/>
          <p:cNvSpPr/>
          <p:nvPr/>
        </p:nvSpPr>
        <p:spPr>
          <a:xfrm>
            <a:off x="8613648" y="3410712"/>
            <a:ext cx="146304" cy="146304"/>
          </a:xfrm>
          <a:prstGeom prst="ellipse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9262872" y="3227832"/>
            <a:ext cx="2651760" cy="1645920"/>
          </a:xfrm>
          <a:prstGeom prst="roundRect">
            <a:avLst>
              <a:gd name="adj" fmla="val 8000"/>
            </a:avLst>
          </a:prstGeom>
          <a:solidFill>
            <a:srgbClr val="1030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9262872" y="3227832"/>
            <a:ext cx="2651760" cy="91440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427464" y="3364992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A56DB"/>
                </a:solidFill>
              </a:rPr>
              <a:t>💻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427464" y="3886200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VS Code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427464" y="4270247"/>
            <a:ext cx="2423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</a:rPr>
              <a:t>IDE &amp; Development</a:t>
            </a:r>
          </a:p>
        </p:txBody>
      </p:sp>
      <p:sp>
        <p:nvSpPr>
          <p:cNvPr id="55" name="Oval 54"/>
          <p:cNvSpPr/>
          <p:nvPr/>
        </p:nvSpPr>
        <p:spPr>
          <a:xfrm>
            <a:off x="11585448" y="3410712"/>
            <a:ext cx="146304" cy="146304"/>
          </a:xfrm>
          <a:prstGeom prst="ellipse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56032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A1F44"/>
                </a:solidFill>
              </a:rPr>
              <a:t>🗺️  Learning Journey — From Beginner to QA Professional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804672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9CA3AF"/>
                </a:solidFill>
              </a:rPr>
              <a:t>Step-by-step weekly progress path: Manual → Performance (ISTQB) → Automation (ISTQB) → Playwright → Project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3540760"/>
            <a:ext cx="11064240" cy="50800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08660" y="3360420"/>
            <a:ext cx="411480" cy="411480"/>
          </a:xfrm>
          <a:prstGeom prst="ellipse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13816" y="3465576"/>
            <a:ext cx="201168" cy="201168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11480" y="2697480"/>
            <a:ext cx="1005840" cy="292608"/>
          </a:xfrm>
          <a:prstGeom prst="roundRect">
            <a:avLst>
              <a:gd name="adj" fmla="val 8000"/>
            </a:avLst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" y="2697480"/>
            <a:ext cx="1005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Week 1–2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" y="1371600"/>
            <a:ext cx="1554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1F44"/>
                </a:solidFill>
              </a:rPr>
              <a:t>Testing Basics
&amp; Environment Setup</a:t>
            </a:r>
          </a:p>
        </p:txBody>
      </p:sp>
      <p:sp>
        <p:nvSpPr>
          <p:cNvPr id="13" name="Oval 12"/>
          <p:cNvSpPr/>
          <p:nvPr/>
        </p:nvSpPr>
        <p:spPr>
          <a:xfrm>
            <a:off x="2537460" y="3360420"/>
            <a:ext cx="411480" cy="41148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642616" y="3465576"/>
            <a:ext cx="201168" cy="201168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240280" y="4069080"/>
            <a:ext cx="1005840" cy="292608"/>
          </a:xfrm>
          <a:prstGeom prst="roundRect">
            <a:avLst>
              <a:gd name="adj" fmla="val 8000"/>
            </a:avLst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240280" y="4069080"/>
            <a:ext cx="1005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Week 3–4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65960" y="4480560"/>
            <a:ext cx="1554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1F44"/>
                </a:solidFill>
              </a:rPr>
              <a:t>Manual Testing
&amp; API Testing</a:t>
            </a:r>
          </a:p>
        </p:txBody>
      </p:sp>
      <p:sp>
        <p:nvSpPr>
          <p:cNvPr id="18" name="Oval 17"/>
          <p:cNvSpPr/>
          <p:nvPr/>
        </p:nvSpPr>
        <p:spPr>
          <a:xfrm>
            <a:off x="4366260" y="3360420"/>
            <a:ext cx="411480" cy="41148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471416" y="3465576"/>
            <a:ext cx="201168" cy="201168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069080" y="2697480"/>
            <a:ext cx="1005840" cy="292608"/>
          </a:xfrm>
          <a:prstGeom prst="roundRect">
            <a:avLst>
              <a:gd name="adj" fmla="val 8000"/>
            </a:avLst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069080" y="2697480"/>
            <a:ext cx="1005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Week 5–6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94760" y="1371600"/>
            <a:ext cx="1554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1F44"/>
                </a:solidFill>
              </a:rPr>
              <a:t>Performance Testing
(ISTQB CT-PT)</a:t>
            </a:r>
          </a:p>
        </p:txBody>
      </p:sp>
      <p:sp>
        <p:nvSpPr>
          <p:cNvPr id="23" name="Oval 22"/>
          <p:cNvSpPr/>
          <p:nvPr/>
        </p:nvSpPr>
        <p:spPr>
          <a:xfrm>
            <a:off x="6195060" y="3360420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300216" y="3465576"/>
            <a:ext cx="201168" cy="201168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5897880" y="4069080"/>
            <a:ext cx="1005840" cy="292608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97880" y="4069080"/>
            <a:ext cx="1005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Week 7–8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23560" y="4480560"/>
            <a:ext cx="1554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1F44"/>
                </a:solidFill>
              </a:rPr>
              <a:t>JMeter Practical
&amp; Load Tests</a:t>
            </a:r>
          </a:p>
        </p:txBody>
      </p:sp>
      <p:sp>
        <p:nvSpPr>
          <p:cNvPr id="28" name="Oval 27"/>
          <p:cNvSpPr/>
          <p:nvPr/>
        </p:nvSpPr>
        <p:spPr>
          <a:xfrm>
            <a:off x="8023860" y="3360420"/>
            <a:ext cx="411480" cy="411480"/>
          </a:xfrm>
          <a:prstGeom prst="ellipse">
            <a:avLst/>
          </a:prstGeom>
          <a:solidFill>
            <a:srgbClr val="2EA0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129016" y="3465576"/>
            <a:ext cx="201168" cy="201168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726680" y="2697480"/>
            <a:ext cx="1005840" cy="292608"/>
          </a:xfrm>
          <a:prstGeom prst="roundRect">
            <a:avLst>
              <a:gd name="adj" fmla="val 8000"/>
            </a:avLst>
          </a:prstGeom>
          <a:solidFill>
            <a:srgbClr val="2EA0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26680" y="2697480"/>
            <a:ext cx="1005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Week 9–10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52360" y="1371600"/>
            <a:ext cx="1554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1F44"/>
                </a:solidFill>
              </a:rPr>
              <a:t>Automation ISTQB
&amp; Playwright</a:t>
            </a:r>
          </a:p>
        </p:txBody>
      </p:sp>
      <p:sp>
        <p:nvSpPr>
          <p:cNvPr id="33" name="Oval 32"/>
          <p:cNvSpPr/>
          <p:nvPr/>
        </p:nvSpPr>
        <p:spPr>
          <a:xfrm>
            <a:off x="10035540" y="3360420"/>
            <a:ext cx="411480" cy="411480"/>
          </a:xfrm>
          <a:prstGeom prst="ellipse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0140696" y="3465576"/>
            <a:ext cx="201168" cy="201168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9738360" y="4069080"/>
            <a:ext cx="1005840" cy="292608"/>
          </a:xfrm>
          <a:prstGeom prst="roundRect">
            <a:avLst>
              <a:gd name="adj" fmla="val 8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738360" y="4069080"/>
            <a:ext cx="1005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Week 11–12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464040" y="4480560"/>
            <a:ext cx="1554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1F44"/>
                </a:solidFill>
              </a:rPr>
              <a:t>Capstone Project
GitHub + CI/CD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37160" y="3218688"/>
            <a:ext cx="731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9CA3AF"/>
                </a:solidFill>
              </a:rPr>
              <a:t>🚦 START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155680" y="3108960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59669"/>
                </a:solidFill>
              </a:rPr>
              <a:t>🏁 QA
Engineer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0" y="6217920"/>
            <a:ext cx="12188952" cy="64008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6291072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6B6D4"/>
                </a:solidFill>
              </a:rPr>
              <a:t>✅  After 12 weeks: Junior QA Engineer ready  •  ISTQB Foundation eligible  •  GitHub portfolio complete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56032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👥  Who Is This Program For?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80467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CA3AF"/>
                </a:solidFill>
              </a:rPr>
              <a:t>Target Audience — Who Should Enroll?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417320"/>
            <a:ext cx="2743200" cy="3200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417320"/>
            <a:ext cx="2743200" cy="10972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280160" y="1810512"/>
            <a:ext cx="822960" cy="822960"/>
          </a:xfrm>
          <a:prstGeom prst="ellipse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07592" y="1828800"/>
            <a:ext cx="768096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0" i="0">
                <a:solidFill>
                  <a:srgbClr val="FFFFFF"/>
                </a:solidFill>
              </a:rPr>
              <a:t>👨‍💻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3136392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A1F44"/>
                </a:solidFill>
              </a:rPr>
              <a:t>IT &amp; CS Graduates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" y="3657600"/>
            <a:ext cx="2560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1F2937"/>
                </a:solidFill>
              </a:rPr>
              <a:t>Recent IT or Computer Science graduates looking to enter the QA job market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64408" y="1417320"/>
            <a:ext cx="2743200" cy="3200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64408" y="1417320"/>
            <a:ext cx="2743200" cy="109728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224528" y="1810512"/>
            <a:ext cx="822960" cy="822960"/>
          </a:xfrm>
          <a:prstGeom prst="ellipse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51960" y="1828800"/>
            <a:ext cx="768096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0" i="0">
                <a:solidFill>
                  <a:srgbClr val="FFFFFF"/>
                </a:solidFill>
              </a:rPr>
              <a:t>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74136" y="3136392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A1F44"/>
                </a:solidFill>
              </a:rPr>
              <a:t>Career Changers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74136" y="3657600"/>
            <a:ext cx="2560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1F2937"/>
                </a:solidFill>
              </a:rPr>
              <a:t>Professionals from other fields seeking to transition into QA engineering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08776" y="1417320"/>
            <a:ext cx="2743200" cy="3200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08776" y="1417320"/>
            <a:ext cx="2743200" cy="10972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168896" y="1810512"/>
            <a:ext cx="822960" cy="82296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96328" y="1828800"/>
            <a:ext cx="768096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0" i="0">
                <a:solidFill>
                  <a:srgbClr val="FFFFFF"/>
                </a:solidFill>
              </a:rPr>
              <a:t>🧑‍💼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18504" y="3136392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A1F44"/>
                </a:solidFill>
              </a:rPr>
              <a:t>Junior Developers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18504" y="3657600"/>
            <a:ext cx="2560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1F2937"/>
                </a:solidFill>
              </a:rPr>
              <a:t>Developers wanting to understand testing, automation, and quality processes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153144" y="1417320"/>
            <a:ext cx="2743200" cy="3200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153144" y="1417320"/>
            <a:ext cx="274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0113264" y="1810512"/>
            <a:ext cx="822960" cy="82296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140696" y="1828800"/>
            <a:ext cx="768096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0" i="0">
                <a:solidFill>
                  <a:srgbClr val="FFFFFF"/>
                </a:solidFill>
              </a:rPr>
              <a:t>📊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62872" y="3136392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A1F44"/>
                </a:solidFill>
              </a:rPr>
              <a:t>Project Managers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62872" y="3657600"/>
            <a:ext cx="2560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1F2937"/>
                </a:solidFill>
              </a:rPr>
              <a:t>Professionals who want to deeply understand QA and performance testing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489204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A1F44"/>
                </a:solidFill>
              </a:rPr>
              <a:t>Basic Enrollment Requirements: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" y="5376672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</a:rPr>
              <a:t>✅  No prior software testing experience required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" y="5724144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</a:rPr>
              <a:t>✅  Basic familiarity with computers and the internet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5760" y="6071616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</a:rPr>
              <a:t>✅  Genuine motivation to learn and grow professionally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5760" y="641908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</a:rPr>
              <a:t>✅  A personal computer (Windows / Mac / Linux) with internet access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732520" y="-685800"/>
            <a:ext cx="4114800" cy="4114800"/>
          </a:xfrm>
          <a:prstGeom prst="ellipse">
            <a:avLst/>
          </a:prstGeom>
          <a:solidFill>
            <a:srgbClr val="0C28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-228600" y="4343400"/>
            <a:ext cx="3200400" cy="3200400"/>
          </a:xfrm>
          <a:prstGeom prst="ellipse">
            <a:avLst/>
          </a:prstGeom>
          <a:solidFill>
            <a:srgbClr val="0C28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200400" y="640080"/>
            <a:ext cx="6400800" cy="6400800"/>
          </a:xfrm>
          <a:prstGeom prst="ellipse">
            <a:avLst/>
          </a:prstGeom>
          <a:solidFill>
            <a:srgbClr val="0C25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200400" y="914400"/>
            <a:ext cx="5760720" cy="438912"/>
          </a:xfrm>
          <a:prstGeom prst="roundRect">
            <a:avLst>
              <a:gd name="adj" fmla="val 8000"/>
            </a:avLst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0" y="932688"/>
            <a:ext cx="57607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A1F44"/>
                </a:solidFill>
              </a:rPr>
              <a:t>✦  Registration Is Now Open — Cohort 2025  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1554480"/>
            <a:ext cx="868680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</a:rPr>
              <a:t>Start Your Journey 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304288"/>
            <a:ext cx="868680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06B6D4"/>
                </a:solidFill>
              </a:rPr>
              <a:t>Software Testing Today!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3218688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CA3AF"/>
                </a:solidFill>
              </a:rPr>
              <a:t>ISTQB-Aligned Diploma  •  Performance Testing  •  Playwright Automation  •  GitHub Capstone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431036" y="3886200"/>
            <a:ext cx="2194560" cy="1280160"/>
          </a:xfrm>
          <a:prstGeom prst="roundRect">
            <a:avLst>
              <a:gd name="adj" fmla="val 8000"/>
            </a:avLst>
          </a:prstGeom>
          <a:solidFill>
            <a:srgbClr val="1030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31036" y="3950208"/>
            <a:ext cx="219456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06B6D4"/>
                </a:solidFill>
              </a:rPr>
              <a:t>14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31036" y="4553712"/>
            <a:ext cx="2194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</a:rPr>
              <a:t>Lectures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899916" y="3886200"/>
            <a:ext cx="2194560" cy="1280160"/>
          </a:xfrm>
          <a:prstGeom prst="roundRect">
            <a:avLst>
              <a:gd name="adj" fmla="val 8000"/>
            </a:avLst>
          </a:prstGeom>
          <a:solidFill>
            <a:srgbClr val="1030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99916" y="3950208"/>
            <a:ext cx="219456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06B6D4"/>
                </a:solidFill>
              </a:rPr>
              <a:t>12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99916" y="4553712"/>
            <a:ext cx="2194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</a:rPr>
              <a:t>Weeks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68796" y="3886200"/>
            <a:ext cx="2194560" cy="1280160"/>
          </a:xfrm>
          <a:prstGeom prst="roundRect">
            <a:avLst>
              <a:gd name="adj" fmla="val 8000"/>
            </a:avLst>
          </a:prstGeom>
          <a:solidFill>
            <a:srgbClr val="1030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68796" y="3950208"/>
            <a:ext cx="219456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06B6D4"/>
                </a:solidFill>
              </a:rPr>
              <a:t>3+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68796" y="4553712"/>
            <a:ext cx="2194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</a:rPr>
              <a:t>ISTQB Topics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837676" y="3886200"/>
            <a:ext cx="2194560" cy="1280160"/>
          </a:xfrm>
          <a:prstGeom prst="roundRect">
            <a:avLst>
              <a:gd name="adj" fmla="val 8000"/>
            </a:avLst>
          </a:prstGeom>
          <a:solidFill>
            <a:srgbClr val="1030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837676" y="3950208"/>
            <a:ext cx="219456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06B6D4"/>
                </a:solidFill>
              </a:rPr>
              <a:t>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37676" y="4553712"/>
            <a:ext cx="2194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</a:rPr>
              <a:t>GitHub Project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89120" y="5486400"/>
            <a:ext cx="3383280" cy="658368"/>
          </a:xfrm>
          <a:prstGeom prst="roundRect">
            <a:avLst>
              <a:gd name="adj" fmla="val 8000"/>
            </a:avLst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89120" y="5522976"/>
            <a:ext cx="338328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A1F44"/>
                </a:solidFill>
              </a:rPr>
              <a:t>Enroll Now  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71600" y="6400800"/>
            <a:ext cx="9601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CA3AF"/>
                </a:solidFill>
              </a:rPr>
              <a:t>Contact us:  info@example.com  |  www.example.com  |  @QADiploma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