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657600"/>
            <a:ext cx="12188952" cy="254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56032" y="29260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6B6D4"/>
                </a:solidFill>
              </a:rPr>
              <a:t>NEW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749808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</a:rPr>
              <a:t>Software Testing Diploma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" y="166420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06B6D4"/>
                </a:solidFill>
              </a:rPr>
              <a:t>for Beginners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" y="248716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9CA3AF"/>
                </a:solidFill>
              </a:rPr>
              <a:t>A structured 2-month program — from testing fundamentals to automation with Playwright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" y="3246120"/>
            <a:ext cx="274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6B6D4"/>
                </a:solidFill>
              </a:rPr>
              <a:t>2 Months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" y="370332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</a:rPr>
              <a:t>Duration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3246120"/>
            <a:ext cx="274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6B6D4"/>
                </a:solidFill>
              </a:rPr>
              <a:t>12 Lectures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370332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</a:rPr>
              <a:t>Content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44768" y="3246120"/>
            <a:ext cx="274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6B6D4"/>
                </a:solidFill>
              </a:rPr>
              <a:t>Beginner → Pro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370332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</a:rPr>
              <a:t>Level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89136" y="3246120"/>
            <a:ext cx="274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6B6D4"/>
                </a:solidFill>
              </a:rPr>
              <a:t>Certificate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89136" y="370332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</a:rPr>
              <a:t>On Completion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56032" y="4114800"/>
            <a:ext cx="11676888" cy="1905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6032" y="4279392"/>
            <a:ext cx="116768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CA3AF"/>
                </a:solidFill>
              </a:rPr>
              <a:t>Testing Concepts  •  Performance Testing  •  Automation  •  Playwright + JS  •  Jira  •  GitHub Portfolio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15568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56032" y="201168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56DB"/>
                </a:solidFill>
              </a:rPr>
              <a:t>ABOUT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512064"/>
            <a:ext cx="11430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About the Program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" y="987552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BEAFF"/>
                </a:solidFill>
              </a:rPr>
              <a:t>What will you learn in 2 months?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" y="1261872"/>
            <a:ext cx="1167688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F2937"/>
                </a:solidFill>
              </a:rPr>
              <a:t>A hands-on 2-month program that takes you from zero to a solid beginner-advanced level. You will master testing fundamentals, performance and automation concepts, write automated tests with Playwright + JavaScript, manage test cases and bugs in Jira, and finish with a real project hosted on your own GitHub portfolio.</a:t>
            </a:r>
          </a:p>
        </p:txBody>
      </p:sp>
      <p:sp>
        <p:nvSpPr>
          <p:cNvPr id="9" name="Rectangle 8"/>
          <p:cNvSpPr/>
          <p:nvPr/>
        </p:nvSpPr>
        <p:spPr>
          <a:xfrm>
            <a:off x="256032" y="2084831"/>
            <a:ext cx="11676888" cy="1905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56032" y="2240280"/>
            <a:ext cx="5728716" cy="12344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6032" y="2240280"/>
            <a:ext cx="5728716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3192" y="2368296"/>
            <a:ext cx="550011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A1F44"/>
                </a:solidFill>
              </a:rPr>
              <a:t>Duration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" y="2770632"/>
            <a:ext cx="5500116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2 months / 12 lectures — online + practical workshops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94476" y="2240280"/>
            <a:ext cx="5728716" cy="12344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094476" y="2240280"/>
            <a:ext cx="5728716" cy="73152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1636" y="2368296"/>
            <a:ext cx="550011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A1F44"/>
                </a:solidFill>
              </a:rPr>
              <a:t>Methodology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31636" y="2770632"/>
            <a:ext cx="5500116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Concept-first: deep theory, then hands-on practice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6032" y="3566160"/>
            <a:ext cx="5728716" cy="12344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6032" y="3566160"/>
            <a:ext cx="5728716" cy="73152"/>
          </a:xfrm>
          <a:prstGeom prst="rect">
            <a:avLst/>
          </a:prstGeom>
          <a:solidFill>
            <a:srgbClr val="2EA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3192" y="3694176"/>
            <a:ext cx="550011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A1F44"/>
                </a:solidFill>
              </a:rPr>
              <a:t>Automation Tool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192" y="4096512"/>
            <a:ext cx="5500116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Playwright + JavaScript — modern, fast, cross-browser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94476" y="3566160"/>
            <a:ext cx="5728716" cy="12344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94476" y="3566160"/>
            <a:ext cx="5728716" cy="73152"/>
          </a:xfrm>
          <a:prstGeom prst="rect">
            <a:avLst/>
          </a:prstGeom>
          <a:solidFill>
            <a:srgbClr val="005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31636" y="3694176"/>
            <a:ext cx="550011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A1F44"/>
                </a:solidFill>
              </a:rPr>
              <a:t>Test Management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31636" y="4096512"/>
            <a:ext cx="5500116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Jira for writing test cases and professional bug reports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6032" y="4892040"/>
            <a:ext cx="5728716" cy="12344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56032" y="4892040"/>
            <a:ext cx="5728716" cy="73152"/>
          </a:xfrm>
          <a:prstGeom prst="rect">
            <a:avLst/>
          </a:prstGeom>
          <a:solidFill>
            <a:srgbClr val="2429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93192" y="5020056"/>
            <a:ext cx="550011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A1F44"/>
                </a:solidFill>
              </a:rPr>
              <a:t>Portfolio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3192" y="5422392"/>
            <a:ext cx="5500116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Graduate with a real project on your GitHub profile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94476" y="4892040"/>
            <a:ext cx="5728716" cy="12344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094476" y="4892040"/>
            <a:ext cx="5728716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31636" y="5020056"/>
            <a:ext cx="550011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A1F44"/>
                </a:solidFill>
              </a:rPr>
              <a:t>Outcome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31636" y="5422392"/>
            <a:ext cx="5500116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Ready for Junior QA Engineer roles with a strong portfolio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15568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56032" y="201168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56DB"/>
                </a:solidFill>
              </a:rPr>
              <a:t>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512064"/>
            <a:ext cx="11430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What You Will Master Upon Graduation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" y="987552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BEAFF"/>
                </a:solidFill>
              </a:rPr>
              <a:t>8 core skills — testing theory, tools, and professional practice</a:t>
            </a:r>
          </a:p>
        </p:txBody>
      </p:sp>
      <p:sp>
        <p:nvSpPr>
          <p:cNvPr id="8" name="Rectangle 7"/>
          <p:cNvSpPr/>
          <p:nvPr/>
        </p:nvSpPr>
        <p:spPr>
          <a:xfrm>
            <a:off x="256032" y="1298448"/>
            <a:ext cx="5783580" cy="56692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1298448"/>
            <a:ext cx="91440" cy="566928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353312"/>
            <a:ext cx="1828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56DB"/>
                </a:solidFill>
              </a:rPr>
              <a:t>01  Testing Fundamentals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21992" y="1353312"/>
            <a:ext cx="37536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</a:rPr>
              <a:t>SDLC, STLC, test types, levels — the full picture of how software is tested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49340" y="1298448"/>
            <a:ext cx="5783580" cy="56692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49340" y="1298448"/>
            <a:ext cx="91440" cy="5669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32220" y="1353312"/>
            <a:ext cx="1828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7C3AED"/>
                </a:solidFill>
              </a:rPr>
              <a:t>02  Test Case 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15300" y="1353312"/>
            <a:ext cx="37536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</a:rPr>
              <a:t>Equivalence Partitioning, Boundary Value Analysis, Decision Tables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6032" y="1956816"/>
            <a:ext cx="5783580" cy="56692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56032" y="1956816"/>
            <a:ext cx="91440" cy="56692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" y="2011680"/>
            <a:ext cx="1828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</a:rPr>
              <a:t>03  Manual &amp; Functional Testing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21992" y="2011680"/>
            <a:ext cx="37536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</a:rPr>
              <a:t>Smoke, Regression, Exploratory Testing — executed and documented professionally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49340" y="1956816"/>
            <a:ext cx="5783580" cy="56692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49340" y="1956816"/>
            <a:ext cx="91440" cy="566928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32220" y="2011680"/>
            <a:ext cx="1828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B6D4"/>
                </a:solidFill>
              </a:rPr>
              <a:t>04  API Testing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15300" y="2011680"/>
            <a:ext cx="37536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</a:rPr>
              <a:t>RESTful API testing with Postman — requests, assertions, collections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56032" y="2615184"/>
            <a:ext cx="5783580" cy="56692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56032" y="2615184"/>
            <a:ext cx="91440" cy="56692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" y="2670048"/>
            <a:ext cx="1828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C2626"/>
                </a:solidFill>
              </a:rPr>
              <a:t>05  Performance Testing Concepts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21992" y="2670048"/>
            <a:ext cx="37536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</a:rPr>
              <a:t>Load, Stress, Spike, Soak — types, metrics, and what to measure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49340" y="2615184"/>
            <a:ext cx="5783580" cy="56692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49340" y="2615184"/>
            <a:ext cx="91440" cy="566928"/>
          </a:xfrm>
          <a:prstGeom prst="rect">
            <a:avLst/>
          </a:prstGeom>
          <a:solidFill>
            <a:srgbClr val="2EA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32220" y="2670048"/>
            <a:ext cx="1828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A044"/>
                </a:solidFill>
              </a:rPr>
              <a:t>06  Automation Concepts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15300" y="2670048"/>
            <a:ext cx="37536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</a:rPr>
              <a:t>When to automate, automation pyramid, framework types and strategy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6032" y="3273552"/>
            <a:ext cx="5783580" cy="56692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56032" y="3273552"/>
            <a:ext cx="91440" cy="566928"/>
          </a:xfrm>
          <a:prstGeom prst="rect">
            <a:avLst/>
          </a:prstGeom>
          <a:solidFill>
            <a:srgbClr val="005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8912" y="3328416"/>
            <a:ext cx="1828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52CC"/>
                </a:solidFill>
              </a:rPr>
              <a:t>07  Playwright + JavaScript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221992" y="3328416"/>
            <a:ext cx="37536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</a:rPr>
              <a:t>Write, run, and maintain automated UI tests using Playwright from scratch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49340" y="3273552"/>
            <a:ext cx="5783580" cy="56692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149340" y="3273552"/>
            <a:ext cx="91440" cy="566928"/>
          </a:xfrm>
          <a:prstGeom prst="rect">
            <a:avLst/>
          </a:prstGeom>
          <a:solidFill>
            <a:srgbClr val="2429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32220" y="3328416"/>
            <a:ext cx="1828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4292E"/>
                </a:solidFill>
              </a:rPr>
              <a:t>08  Jira + GitHub Portfolio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15300" y="3328416"/>
            <a:ext cx="37536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</a:rPr>
              <a:t>Test cases &amp; bug reports in Jira · Real project on your GitHub profile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56032" y="6492240"/>
            <a:ext cx="11676888" cy="1905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56032" y="6528816"/>
            <a:ext cx="116768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1">
                <a:solidFill>
                  <a:srgbClr val="1A56DB"/>
                </a:solidFill>
              </a:rPr>
              <a:t>Graduates are ready for Junior QA Engineer roles with hands-on experience in all key areas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25603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6B6D4"/>
                </a:solidFill>
              </a:rPr>
              <a:t>CURRICULUM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" y="566928"/>
            <a:ext cx="11430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Curriculum Roadmap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117043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CA3AF"/>
                </a:solidFill>
              </a:rPr>
              <a:t>12 Lectures — Foundation Track → Advanced Track</a:t>
            </a:r>
          </a:p>
        </p:txBody>
      </p:sp>
      <p:sp>
        <p:nvSpPr>
          <p:cNvPr id="7" name="Rectangle 6"/>
          <p:cNvSpPr/>
          <p:nvPr/>
        </p:nvSpPr>
        <p:spPr>
          <a:xfrm>
            <a:off x="256032" y="1627632"/>
            <a:ext cx="5783580" cy="438912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664208"/>
            <a:ext cx="56007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Month 1 — Foundation Track  (Lectures 1–6)</a:t>
            </a:r>
          </a:p>
        </p:txBody>
      </p:sp>
      <p:sp>
        <p:nvSpPr>
          <p:cNvPr id="9" name="Rectangle 8"/>
          <p:cNvSpPr/>
          <p:nvPr/>
        </p:nvSpPr>
        <p:spPr>
          <a:xfrm>
            <a:off x="256032" y="2139696"/>
            <a:ext cx="5783580" cy="621792"/>
          </a:xfrm>
          <a:prstGeom prst="rect">
            <a:avLst/>
          </a:prstGeom>
          <a:solidFill>
            <a:srgbClr val="0E2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56032" y="2139696"/>
            <a:ext cx="475488" cy="621792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0896" y="226771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2176272"/>
            <a:ext cx="51617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Introduction to Software Testing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2487168"/>
            <a:ext cx="516178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CA3AF"/>
                </a:solidFill>
              </a:rPr>
              <a:t>SDLC, STLC, 7 principles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6032" y="2816352"/>
            <a:ext cx="5783580" cy="621792"/>
          </a:xfrm>
          <a:prstGeom prst="rect">
            <a:avLst/>
          </a:prstGeom>
          <a:solidFill>
            <a:srgbClr val="0E2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56032" y="2816352"/>
            <a:ext cx="475488" cy="621792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0896" y="2944368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" y="2852928"/>
            <a:ext cx="51617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Testing Types &amp; Levels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3163824"/>
            <a:ext cx="516178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CA3AF"/>
                </a:solidFill>
              </a:rPr>
              <a:t>Unit / Integration / System / UAT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56032" y="3493008"/>
            <a:ext cx="5783580" cy="621792"/>
          </a:xfrm>
          <a:prstGeom prst="rect">
            <a:avLst/>
          </a:prstGeom>
          <a:solidFill>
            <a:srgbClr val="0E2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56032" y="3493008"/>
            <a:ext cx="475488" cy="621792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10896" y="3621024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" y="3529584"/>
            <a:ext cx="51617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Test Case Design Techniques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" y="3840480"/>
            <a:ext cx="516178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CA3AF"/>
                </a:solidFill>
              </a:rPr>
              <a:t>EP, BVA, Decision Tables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56032" y="4169664"/>
            <a:ext cx="5783580" cy="621792"/>
          </a:xfrm>
          <a:prstGeom prst="rect">
            <a:avLst/>
          </a:prstGeom>
          <a:solidFill>
            <a:srgbClr val="0E2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56032" y="4169664"/>
            <a:ext cx="475488" cy="621792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10896" y="42976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4206240"/>
            <a:ext cx="51617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Manual &amp; Functional Testing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" y="4517136"/>
            <a:ext cx="516178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CA3AF"/>
                </a:solidFill>
              </a:rPr>
              <a:t>Smoke, Regression, Exploratory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56032" y="4846320"/>
            <a:ext cx="5783580" cy="621792"/>
          </a:xfrm>
          <a:prstGeom prst="rect">
            <a:avLst/>
          </a:prstGeom>
          <a:solidFill>
            <a:srgbClr val="0E2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56032" y="4846320"/>
            <a:ext cx="475488" cy="621792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10896" y="4974336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" y="4882896"/>
            <a:ext cx="51617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API Testing with Postman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4672" y="5193792"/>
            <a:ext cx="516178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CA3AF"/>
                </a:solidFill>
              </a:rPr>
              <a:t>REST, HTTP methods, assertions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6032" y="5522976"/>
            <a:ext cx="5783580" cy="621792"/>
          </a:xfrm>
          <a:prstGeom prst="rect">
            <a:avLst/>
          </a:prstGeom>
          <a:solidFill>
            <a:srgbClr val="0E2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56032" y="5522976"/>
            <a:ext cx="475488" cy="621792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10896" y="565099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4672" y="5559552"/>
            <a:ext cx="51617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Defect Management &amp; Jira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4672" y="5870448"/>
            <a:ext cx="516178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CA3AF"/>
                </a:solidFill>
              </a:rPr>
              <a:t>Bug life cycle, bug reports, Jira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49340" y="1627632"/>
            <a:ext cx="5783580" cy="43891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59068" y="1664208"/>
            <a:ext cx="56007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A1F44"/>
                </a:solidFill>
              </a:rPr>
              <a:t>Month 2 — Advanced Track  (Lectures 7–12)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49340" y="2139696"/>
            <a:ext cx="5783580" cy="621792"/>
          </a:xfrm>
          <a:prstGeom prst="rect">
            <a:avLst/>
          </a:prstGeom>
          <a:solidFill>
            <a:srgbClr val="052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49340" y="2139696"/>
            <a:ext cx="475488" cy="62179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04204" y="226771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1F44"/>
                </a:solidFill>
              </a:rPr>
              <a:t>07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97980" y="2176272"/>
            <a:ext cx="51617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Performance Testing Concepts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97980" y="2487168"/>
            <a:ext cx="516178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CA3AF"/>
                </a:solidFill>
              </a:rPr>
              <a:t>Load, Stress, Spike, Soak — types &amp; metrics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49340" y="2816352"/>
            <a:ext cx="5783580" cy="621792"/>
          </a:xfrm>
          <a:prstGeom prst="rect">
            <a:avLst/>
          </a:prstGeom>
          <a:solidFill>
            <a:srgbClr val="052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149340" y="2816352"/>
            <a:ext cx="475488" cy="62179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04204" y="2944368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1F44"/>
                </a:solidFill>
              </a:rPr>
              <a:t>08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697980" y="2852928"/>
            <a:ext cx="51617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Test Automation Concepts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97980" y="3163824"/>
            <a:ext cx="516178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CA3AF"/>
                </a:solidFill>
              </a:rPr>
              <a:t>Pyramid, frameworks, when to automate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149340" y="3493008"/>
            <a:ext cx="5783580" cy="621792"/>
          </a:xfrm>
          <a:prstGeom prst="rect">
            <a:avLst/>
          </a:prstGeom>
          <a:solidFill>
            <a:srgbClr val="052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149340" y="3493008"/>
            <a:ext cx="475488" cy="62179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204204" y="3621024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1F44"/>
                </a:solidFill>
              </a:rPr>
              <a:t>09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697980" y="3529584"/>
            <a:ext cx="51617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Playwright + JS — Setup &amp; Basics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697980" y="3840480"/>
            <a:ext cx="516178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CA3AF"/>
                </a:solidFill>
              </a:rPr>
              <a:t>Install, config, first test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149340" y="4169664"/>
            <a:ext cx="5783580" cy="621792"/>
          </a:xfrm>
          <a:prstGeom prst="rect">
            <a:avLst/>
          </a:prstGeom>
          <a:solidFill>
            <a:srgbClr val="052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149340" y="4169664"/>
            <a:ext cx="475488" cy="62179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04204" y="42976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1F44"/>
                </a:solidFill>
              </a:rPr>
              <a:t>10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697980" y="4206240"/>
            <a:ext cx="51617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Playwright — Locators &amp; Assertions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697980" y="4517136"/>
            <a:ext cx="516178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CA3AF"/>
                </a:solidFill>
              </a:rPr>
              <a:t>getByRole, expect(), trace viewer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149340" y="4846320"/>
            <a:ext cx="5783580" cy="621792"/>
          </a:xfrm>
          <a:prstGeom prst="rect">
            <a:avLst/>
          </a:prstGeom>
          <a:solidFill>
            <a:srgbClr val="052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149340" y="4846320"/>
            <a:ext cx="475488" cy="62179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204204" y="4974336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1F44"/>
                </a:solidFill>
              </a:rPr>
              <a:t>11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697980" y="4882896"/>
            <a:ext cx="51617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Jira — Test Cases &amp; Bug Reports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697980" y="5193792"/>
            <a:ext cx="516178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CA3AF"/>
                </a:solidFill>
              </a:rPr>
              <a:t>Create, manage, and report in Jira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149340" y="5522976"/>
            <a:ext cx="5783580" cy="621792"/>
          </a:xfrm>
          <a:prstGeom prst="rect">
            <a:avLst/>
          </a:prstGeom>
          <a:solidFill>
            <a:srgbClr val="052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6149340" y="5522976"/>
            <a:ext cx="475488" cy="62179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04204" y="565099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1F44"/>
                </a:solidFill>
              </a:rPr>
              <a:t>12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697980" y="5559552"/>
            <a:ext cx="51617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GitHub Portfolio + Capstone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697980" y="5870448"/>
            <a:ext cx="516178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CA3AF"/>
                </a:solidFill>
              </a:rPr>
              <a:t>Build your portfolio &amp; final project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15568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56032" y="201168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56DB"/>
                </a:solidFill>
              </a:rPr>
              <a:t>MONTH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512064"/>
            <a:ext cx="11430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Foundation Track — Lectures 1–6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" y="987552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BEAFF"/>
                </a:solidFill>
              </a:rPr>
              <a:t>Core Skills &amp; Fundamentals</a:t>
            </a:r>
          </a:p>
        </p:txBody>
      </p:sp>
      <p:sp>
        <p:nvSpPr>
          <p:cNvPr id="8" name="Rectangle 7"/>
          <p:cNvSpPr/>
          <p:nvPr/>
        </p:nvSpPr>
        <p:spPr>
          <a:xfrm>
            <a:off x="256032" y="1298448"/>
            <a:ext cx="3819144" cy="245059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1298448"/>
            <a:ext cx="3819144" cy="73152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1426464"/>
            <a:ext cx="36179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A1F44"/>
                </a:solidFill>
              </a:rPr>
              <a:t>01  Introduction to Software Testing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6032" y="1892808"/>
            <a:ext cx="11676888" cy="1905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" y="1956816"/>
            <a:ext cx="36179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▸  SDLC — Software Development Life Cycle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2377440"/>
            <a:ext cx="36179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▸  STLC — Software Testing Life Cycle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" y="2798064"/>
            <a:ext cx="36179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▸  The 7 Principles of Testing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" y="3218688"/>
            <a:ext cx="36179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▸  V-Model and Agile approaches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84904" y="1298448"/>
            <a:ext cx="3819144" cy="245059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84904" y="1298448"/>
            <a:ext cx="3819144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12920" y="1426464"/>
            <a:ext cx="36179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A1F44"/>
                </a:solidFill>
              </a:rPr>
              <a:t>02  Testing Types &amp; Levels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56032" y="1892808"/>
            <a:ext cx="11676888" cy="1905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12920" y="1956816"/>
            <a:ext cx="36179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▸  Unit, Integration, System, UAT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12920" y="2377440"/>
            <a:ext cx="36179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▸  Functional vs Non-Functional Testing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12920" y="2798064"/>
            <a:ext cx="36179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▸  Black Box &amp; White Box Testing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12920" y="3218688"/>
            <a:ext cx="36179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▸  Static vs Dynamic Testing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13776" y="1298448"/>
            <a:ext cx="3819144" cy="245059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13776" y="1298448"/>
            <a:ext cx="3819144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41792" y="1426464"/>
            <a:ext cx="36179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A1F44"/>
                </a:solidFill>
              </a:rPr>
              <a:t>03  Test Case Design Techniques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56032" y="1892808"/>
            <a:ext cx="11676888" cy="1905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41792" y="1956816"/>
            <a:ext cx="36179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▸  Equivalence Partitioning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1792" y="2377440"/>
            <a:ext cx="36179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▸  Boundary Value Analysis (BVA)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41792" y="2798064"/>
            <a:ext cx="36179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▸  Decision Table Testing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41792" y="3218688"/>
            <a:ext cx="36179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▸  State Transition Testing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6032" y="3913632"/>
            <a:ext cx="3819144" cy="245059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56032" y="3913632"/>
            <a:ext cx="3819144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84048" y="4041648"/>
            <a:ext cx="36179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A1F44"/>
                </a:solidFill>
              </a:rPr>
              <a:t>04  Manual &amp; Functional Testing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56032" y="4507992"/>
            <a:ext cx="11676888" cy="1905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84048" y="4572000"/>
            <a:ext cx="36179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▸  Writing a professional Test Plan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4048" y="4992624"/>
            <a:ext cx="36179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▸  Smoke Testing &amp; Sanity Testing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4048" y="5413248"/>
            <a:ext cx="36179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▸  Regression Testing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4048" y="5833872"/>
            <a:ext cx="36179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▸  Exploratory Testing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84904" y="3913632"/>
            <a:ext cx="3819144" cy="245059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184904" y="3913632"/>
            <a:ext cx="3819144" cy="7315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312920" y="4041648"/>
            <a:ext cx="36179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A1F44"/>
                </a:solidFill>
              </a:rPr>
              <a:t>05  API Testing with Postman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56032" y="4507992"/>
            <a:ext cx="11676888" cy="1905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12920" y="4572000"/>
            <a:ext cx="36179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▸  REST API fundamentals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12920" y="4992624"/>
            <a:ext cx="36179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▸  HTTP Methods &amp; Status Codes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12920" y="5413248"/>
            <a:ext cx="36179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▸  Writing assertions in Postman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12920" y="5833872"/>
            <a:ext cx="36179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▸  Running collection runner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113776" y="3913632"/>
            <a:ext cx="3819144" cy="245059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113776" y="3913632"/>
            <a:ext cx="3819144" cy="7315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241792" y="4041648"/>
            <a:ext cx="36179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A1F44"/>
                </a:solidFill>
              </a:rPr>
              <a:t>06  Defect Management &amp; Jira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56032" y="4507992"/>
            <a:ext cx="11676888" cy="1905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241792" y="4572000"/>
            <a:ext cx="36179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▸  Bug Life Cycle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241792" y="4992624"/>
            <a:ext cx="36179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▸  Writing a professional bug report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41792" y="5413248"/>
            <a:ext cx="36179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▸  Severity vs Priority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41792" y="5833872"/>
            <a:ext cx="36179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▸  Logging defects in Jira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15568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56032" y="201168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6B6D4"/>
                </a:solidFill>
              </a:rPr>
              <a:t>MONTH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512064"/>
            <a:ext cx="11430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Advanced Track — Lectures 7–12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" y="987552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BEAFF"/>
                </a:solidFill>
              </a:rPr>
              <a:t>Performance Concepts · Automation Concepts · Playwright · Jira · GitHub Portfolio</a:t>
            </a:r>
          </a:p>
        </p:txBody>
      </p:sp>
      <p:sp>
        <p:nvSpPr>
          <p:cNvPr id="8" name="Rectangle 7"/>
          <p:cNvSpPr/>
          <p:nvPr/>
        </p:nvSpPr>
        <p:spPr>
          <a:xfrm>
            <a:off x="256032" y="1298448"/>
            <a:ext cx="3819144" cy="245059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1298448"/>
            <a:ext cx="3819144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1426464"/>
            <a:ext cx="36179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A1F44"/>
                </a:solidFill>
              </a:rPr>
              <a:t>07  Performance Testing Concepts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6032" y="1892808"/>
            <a:ext cx="11676888" cy="1905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" y="1956816"/>
            <a:ext cx="36179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▸  Load, Stress, Spike, Soak Testing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2377440"/>
            <a:ext cx="36179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▸  Key metrics: Response Time, Throughput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" y="2798064"/>
            <a:ext cx="36179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▸  Concurrent users &amp; error rate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" y="3218688"/>
            <a:ext cx="36179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▸  What to test and when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84904" y="1298448"/>
            <a:ext cx="3819144" cy="245059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84904" y="1298448"/>
            <a:ext cx="3819144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12920" y="1426464"/>
            <a:ext cx="36179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A1F44"/>
                </a:solidFill>
              </a:rPr>
              <a:t>08  Test Automation Concepts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56032" y="1892808"/>
            <a:ext cx="11676888" cy="1905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12920" y="1956816"/>
            <a:ext cx="36179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▸  When to automate? Decision criteria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12920" y="2377440"/>
            <a:ext cx="36179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▸  The Automation Pyramid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12920" y="2798064"/>
            <a:ext cx="36179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▸  Framework types (POM, Data-Driven, BDD)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12920" y="3218688"/>
            <a:ext cx="36179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▸  Automation strategy &amp; maintenance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13776" y="1298448"/>
            <a:ext cx="3819144" cy="245059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13776" y="1298448"/>
            <a:ext cx="3819144" cy="73152"/>
          </a:xfrm>
          <a:prstGeom prst="rect">
            <a:avLst/>
          </a:prstGeom>
          <a:solidFill>
            <a:srgbClr val="2EA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41792" y="1426464"/>
            <a:ext cx="36179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A1F44"/>
                </a:solidFill>
              </a:rPr>
              <a:t>09  Playwright + JS — Setup &amp; Basics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56032" y="1892808"/>
            <a:ext cx="11676888" cy="1905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41792" y="1956816"/>
            <a:ext cx="36179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▸  Installing Playwright with npm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1792" y="2377440"/>
            <a:ext cx="36179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▸  playwright.config.js explained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41792" y="2798064"/>
            <a:ext cx="36179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▸  Writing your first test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41792" y="3218688"/>
            <a:ext cx="36179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▸  Running tests &amp; HTML reports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6032" y="3913632"/>
            <a:ext cx="3819144" cy="245059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56032" y="3913632"/>
            <a:ext cx="3819144" cy="73152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84048" y="4041648"/>
            <a:ext cx="36179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A1F44"/>
                </a:solidFill>
              </a:rPr>
              <a:t>10  Playwright — Locators &amp; Assertions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56032" y="4507992"/>
            <a:ext cx="11676888" cy="1905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84048" y="4572000"/>
            <a:ext cx="36179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▸  getByRole, getByText, getByLabel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4048" y="4992624"/>
            <a:ext cx="36179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▸  Actions: click, fill, navigate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4048" y="5413248"/>
            <a:ext cx="36179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▸  expect().toBeVisible() and more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4048" y="5833872"/>
            <a:ext cx="36179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▸  Debugging with trace viewer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84904" y="3913632"/>
            <a:ext cx="3819144" cy="245059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184904" y="3913632"/>
            <a:ext cx="3819144" cy="73152"/>
          </a:xfrm>
          <a:prstGeom prst="rect">
            <a:avLst/>
          </a:prstGeom>
          <a:solidFill>
            <a:srgbClr val="005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312920" y="4041648"/>
            <a:ext cx="36179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A1F44"/>
                </a:solidFill>
              </a:rPr>
              <a:t>11  Jira — Test Cases &amp; Bug Reports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56032" y="4507992"/>
            <a:ext cx="11676888" cy="1905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12920" y="4572000"/>
            <a:ext cx="36179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▸  Creating a Jira project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12920" y="4992624"/>
            <a:ext cx="36179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▸  Writing test cases in Jira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12920" y="5413248"/>
            <a:ext cx="36179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▸  Logging bug reports with evidence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12920" y="5833872"/>
            <a:ext cx="36179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▸  Linking bugs to test cycles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113776" y="3913632"/>
            <a:ext cx="3819144" cy="245059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113776" y="3913632"/>
            <a:ext cx="3819144" cy="73152"/>
          </a:xfrm>
          <a:prstGeom prst="rect">
            <a:avLst/>
          </a:prstGeom>
          <a:solidFill>
            <a:srgbClr val="2429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241792" y="4041648"/>
            <a:ext cx="36179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A1F44"/>
                </a:solidFill>
              </a:rPr>
              <a:t>12  GitHub Portfolio + Capstone Project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56032" y="4507992"/>
            <a:ext cx="11676888" cy="1905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241792" y="4572000"/>
            <a:ext cx="36179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▸  Creating your GitHub profile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241792" y="4992624"/>
            <a:ext cx="36179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▸  Writing a professional README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41792" y="5413248"/>
            <a:ext cx="36179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▸  Uploading your Playwright project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41792" y="5833872"/>
            <a:ext cx="36179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▸  Presenting your work to employers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15568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56032" y="201168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6B6D4"/>
                </a:solidFill>
              </a:rPr>
              <a:t>PERFORMANCE TESTING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512064"/>
            <a:ext cx="11430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Performance Testing — Concepts &amp; Theory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" y="987552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BEAFF"/>
                </a:solidFill>
              </a:rPr>
              <a:t>Understanding how a system behaves under different load conditions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256032" y="1298448"/>
            <a:ext cx="5783580" cy="40233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335024"/>
            <a:ext cx="56007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Types of Performance Testing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6032" y="1773936"/>
            <a:ext cx="5783580" cy="8046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6032" y="1773936"/>
            <a:ext cx="91440" cy="80467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" y="1810512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6B6D4"/>
                </a:solidFill>
              </a:rPr>
              <a:t>Load Testing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93392" y="1810512"/>
            <a:ext cx="39547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Test under expected, normal load — verify the system meets its performance targets.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6032" y="2670048"/>
            <a:ext cx="5783580" cy="8046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56032" y="2670048"/>
            <a:ext cx="91440" cy="804672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" y="2706624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A56DB"/>
                </a:solidFill>
              </a:rPr>
              <a:t>Stress Testing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93392" y="2706624"/>
            <a:ext cx="39547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Push beyond normal limits to find the breaking point and how the system recovers.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6032" y="3566160"/>
            <a:ext cx="5783580" cy="8046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6032" y="3566160"/>
            <a:ext cx="91440" cy="8046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2" y="3602736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59E0B"/>
                </a:solidFill>
              </a:rPr>
              <a:t>Spike Testing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93392" y="3602736"/>
            <a:ext cx="39547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Simulate a sudden sharp increase in users — does the system recover gracefully?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6032" y="4462272"/>
            <a:ext cx="5783580" cy="8046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56032" y="4462272"/>
            <a:ext cx="91440" cy="80467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" y="4498848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59669"/>
                </a:solidFill>
              </a:rPr>
              <a:t>Soak / Endurance Testing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93392" y="4498848"/>
            <a:ext cx="39547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Sustained load over hours — detects memory leaks and gradual performance degradation.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6032" y="5358384"/>
            <a:ext cx="5783580" cy="8046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56032" y="5358384"/>
            <a:ext cx="91440" cy="80467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8912" y="5394960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7C3AED"/>
                </a:solidFill>
              </a:rPr>
              <a:t>Scalability Testing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93392" y="5394960"/>
            <a:ext cx="39547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Measure how performance changes as load is gradually increased step by step.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49340" y="1298448"/>
            <a:ext cx="5783580" cy="402336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59068" y="1335024"/>
            <a:ext cx="56007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Key Metrics to Measure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49340" y="1773936"/>
            <a:ext cx="578358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49340" y="1773936"/>
            <a:ext cx="91440" cy="6400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32220" y="1810512"/>
            <a:ext cx="1600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1F44"/>
                </a:solidFill>
              </a:rPr>
              <a:t>Response Time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78140" y="1810512"/>
            <a:ext cx="38633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Time from request sent to response received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49340" y="2487168"/>
            <a:ext cx="578358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149340" y="2487168"/>
            <a:ext cx="91440" cy="64008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32220" y="2523744"/>
            <a:ext cx="1600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1F44"/>
                </a:solidFill>
              </a:rPr>
              <a:t>Throughput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78140" y="2523744"/>
            <a:ext cx="38633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Transactions processed per second (TPS)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49340" y="3200400"/>
            <a:ext cx="578358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149340" y="3200400"/>
            <a:ext cx="91440" cy="640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32220" y="3236976"/>
            <a:ext cx="1600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1F44"/>
                </a:solidFill>
              </a:rPr>
              <a:t>Concurrent Users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78140" y="3236976"/>
            <a:ext cx="38633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Users active on the system simultaneously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49340" y="3913632"/>
            <a:ext cx="578358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149340" y="3913632"/>
            <a:ext cx="91440" cy="64008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32220" y="3950208"/>
            <a:ext cx="1600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1F44"/>
                </a:solidFill>
              </a:rPr>
              <a:t>Error Rate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78140" y="3950208"/>
            <a:ext cx="38633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Percentage of requests that fail or return errors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49340" y="4626864"/>
            <a:ext cx="578358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149340" y="4626864"/>
            <a:ext cx="91440" cy="6400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32220" y="4663440"/>
            <a:ext cx="1600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1F44"/>
                </a:solidFill>
              </a:rPr>
              <a:t>CPU &amp; Memory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978140" y="4663440"/>
            <a:ext cx="38633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Server resource consumption under load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49340" y="5340096"/>
            <a:ext cx="578358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149340" y="5340096"/>
            <a:ext cx="91440" cy="6400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32220" y="5376672"/>
            <a:ext cx="1600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1F44"/>
                </a:solidFill>
              </a:rPr>
              <a:t>90th Percentile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978140" y="5376672"/>
            <a:ext cx="38633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Response time 90% of requests fall under (P90)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56032" y="6492240"/>
            <a:ext cx="11676888" cy="1905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56032" y="6528816"/>
            <a:ext cx="116768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1F2937"/>
                </a:solidFill>
              </a:rPr>
              <a:t>Performance testing is not just running a tool — it requires a plan, clear goals, the right metrics, and analysis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15568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56032" y="201168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C3AED"/>
                </a:solidFill>
              </a:rPr>
              <a:t>AUTOMATION CONCEPTS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512064"/>
            <a:ext cx="11430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Test Automation — Concepts &amp;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" y="987552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BEAFF"/>
                </a:solidFill>
              </a:rPr>
              <a:t>Understanding when, what, and how to automate — before writing a single line of code</a:t>
            </a:r>
          </a:p>
        </p:txBody>
      </p:sp>
      <p:sp>
        <p:nvSpPr>
          <p:cNvPr id="8" name="Rectangle 7"/>
          <p:cNvSpPr/>
          <p:nvPr/>
        </p:nvSpPr>
        <p:spPr>
          <a:xfrm>
            <a:off x="256032" y="1298448"/>
            <a:ext cx="5783580" cy="40233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335024"/>
            <a:ext cx="56007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When Should You Automate?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6032" y="1773936"/>
            <a:ext cx="5783580" cy="676656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6032" y="1773936"/>
            <a:ext cx="91440" cy="67665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" y="1847088"/>
            <a:ext cx="1463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59669"/>
                </a:solidFill>
              </a:rPr>
              <a:t>YES  Automate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47672" y="1847088"/>
            <a:ext cx="40005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Repetitive regression tests run on every build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6032" y="2523744"/>
            <a:ext cx="5783580" cy="676656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56032" y="2523744"/>
            <a:ext cx="91440" cy="67665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" y="2596896"/>
            <a:ext cx="1463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59669"/>
                </a:solidFill>
              </a:rPr>
              <a:t>YES  Automate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47672" y="2596896"/>
            <a:ext cx="40005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Data-driven tests with many input combinations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6032" y="3273552"/>
            <a:ext cx="5783580" cy="676656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6032" y="3273552"/>
            <a:ext cx="91440" cy="67665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2" y="3346704"/>
            <a:ext cx="1463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59669"/>
                </a:solidFill>
              </a:rPr>
              <a:t>YES  Automate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47672" y="3346704"/>
            <a:ext cx="40005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Smoke tests that must run after every deployment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6032" y="4023360"/>
            <a:ext cx="5783580" cy="676656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56032" y="4023360"/>
            <a:ext cx="91440" cy="67665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" y="4096512"/>
            <a:ext cx="1463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DC2626"/>
                </a:solidFill>
              </a:rPr>
              <a:t>NO   Do Not Automate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47672" y="4096512"/>
            <a:ext cx="40005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Exploratory or usability tests — human judgment needed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6032" y="4773168"/>
            <a:ext cx="5783580" cy="676656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56032" y="4773168"/>
            <a:ext cx="91440" cy="67665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8912" y="4846320"/>
            <a:ext cx="1463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DC2626"/>
                </a:solidFill>
              </a:rPr>
              <a:t>NO   Do Not Automate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47672" y="4846320"/>
            <a:ext cx="40005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Tests on unstable or frequently changing UI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6032" y="5596128"/>
            <a:ext cx="5783580" cy="402336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5632704"/>
            <a:ext cx="56007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The Automation Pyramid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048941" y="6053328"/>
            <a:ext cx="2197760" cy="21945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6032" y="6071616"/>
            <a:ext cx="57835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E2E / UI Tests  —  Few — slowest, most expensive — full app flow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52486" y="6300216"/>
            <a:ext cx="3990670" cy="21945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56032" y="6318504"/>
            <a:ext cx="57835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API / Integration  —  Middle — test service &amp; component contracts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6032" y="6547104"/>
            <a:ext cx="5783580" cy="21945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6032" y="6565392"/>
            <a:ext cx="57835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Unit Tests  —  Most — fastest, cheapest — smallest code units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49340" y="1298448"/>
            <a:ext cx="5783580" cy="40233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59068" y="1335024"/>
            <a:ext cx="56007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Automation Framework Types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49340" y="1773936"/>
            <a:ext cx="5783580" cy="877824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149340" y="1773936"/>
            <a:ext cx="91440" cy="877824"/>
          </a:xfrm>
          <a:prstGeom prst="rect">
            <a:avLst/>
          </a:prstGeom>
          <a:solidFill>
            <a:srgbClr val="2EA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32220" y="1810512"/>
            <a:ext cx="55275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EA044"/>
                </a:solidFill>
              </a:rPr>
              <a:t>Data-Driven Framework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32220" y="2176272"/>
            <a:ext cx="55275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</a:rPr>
              <a:t>Test logic is separated from test data. Data is loaded from files (CSV, JSON). The same test runs with many data sets.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49340" y="2743200"/>
            <a:ext cx="5783580" cy="877824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149340" y="2743200"/>
            <a:ext cx="91440" cy="877824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32220" y="2779776"/>
            <a:ext cx="55275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A56DB"/>
                </a:solidFill>
              </a:rPr>
              <a:t>Keyword-Driven Framework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32220" y="3145536"/>
            <a:ext cx="55275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</a:rPr>
              <a:t>Tests described as tables of keywords — not code. Non-technical testers can write tests.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49340" y="3712464"/>
            <a:ext cx="5783580" cy="877824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149340" y="3712464"/>
            <a:ext cx="91440" cy="87782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32220" y="3749040"/>
            <a:ext cx="55275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59E0B"/>
                </a:solidFill>
              </a:rPr>
              <a:t>Page Object Model (POM)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32220" y="4114800"/>
            <a:ext cx="55275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</a:rPr>
              <a:t>Each page of the app is a class. UI selectors are separated from test logic. Easier to maintain as the app changes.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49340" y="4681728"/>
            <a:ext cx="5783580" cy="877824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149340" y="4681728"/>
            <a:ext cx="91440" cy="87782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32220" y="4718304"/>
            <a:ext cx="55275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59669"/>
                </a:solidFill>
              </a:rPr>
              <a:t>BDD — Behaviour-Driven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32220" y="5084064"/>
            <a:ext cx="55275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</a:rPr>
              <a:t>Tests written in plain English (Given / When / Then). Business-readable test scenarios.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149340" y="5650992"/>
            <a:ext cx="5783580" cy="877824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149340" y="5650992"/>
            <a:ext cx="91440" cy="87782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332220" y="5687568"/>
            <a:ext cx="55275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7C3AED"/>
                </a:solidFill>
              </a:rPr>
              <a:t>Hybrid Framework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32220" y="6053328"/>
            <a:ext cx="55275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</a:rPr>
              <a:t>Combines multiple approaches. Most real projects use a hybrid of POM + Data-Driven.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56032" y="6492240"/>
            <a:ext cx="11676888" cy="1905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56032" y="6528816"/>
            <a:ext cx="116768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1F2937"/>
                </a:solidFill>
              </a:rPr>
              <a:t>Automation is a project — it requires a strategy, a maintenance plan, and a clear reason why each test is automated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EA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25603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A044"/>
                </a:solidFill>
              </a:rPr>
              <a:t>PLAYWRIGHT + JAVASCRIPT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" y="566928"/>
            <a:ext cx="11430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Playwright + JavaScript — Hands-On Example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117043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CA3AF"/>
                </a:solidFill>
              </a:rPr>
              <a:t>Modern, reliable end-to-end testing — cross-browser, no flakiness</a:t>
            </a:r>
          </a:p>
        </p:txBody>
      </p:sp>
      <p:sp>
        <p:nvSpPr>
          <p:cNvPr id="7" name="Rectangle 6"/>
          <p:cNvSpPr/>
          <p:nvPr/>
        </p:nvSpPr>
        <p:spPr>
          <a:xfrm>
            <a:off x="256032" y="1572768"/>
            <a:ext cx="3819144" cy="384048"/>
          </a:xfrm>
          <a:prstGeom prst="rect">
            <a:avLst/>
          </a:prstGeom>
          <a:solidFill>
            <a:srgbClr val="2EA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600200"/>
            <a:ext cx="36545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Why Playwright?</a:t>
            </a:r>
          </a:p>
        </p:txBody>
      </p:sp>
      <p:sp>
        <p:nvSpPr>
          <p:cNvPr id="9" name="Rectangle 8"/>
          <p:cNvSpPr/>
          <p:nvPr/>
        </p:nvSpPr>
        <p:spPr>
          <a:xfrm>
            <a:off x="256032" y="2029968"/>
            <a:ext cx="3819144" cy="438912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2084831"/>
            <a:ext cx="363626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</a:rPr>
              <a:t>▸  Cross-browser: Chromium, Firefox, WebKit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6032" y="2523744"/>
            <a:ext cx="3819144" cy="438912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578607"/>
            <a:ext cx="363626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</a:rPr>
              <a:t>▸  Auto-waits — no flaky sleep() calls needed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6032" y="3017520"/>
            <a:ext cx="3819144" cy="438912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3072383"/>
            <a:ext cx="363626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</a:rPr>
              <a:t>▸  Built-in locators: getByRole, getByText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56032" y="3511296"/>
            <a:ext cx="3819144" cy="438912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3566159"/>
            <a:ext cx="363626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</a:rPr>
              <a:t>▸  HTML reporter with screenshots &amp; traces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56032" y="4005072"/>
            <a:ext cx="3819144" cy="438912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4059935"/>
            <a:ext cx="363626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</a:rPr>
              <a:t>▸  JavaScript — no extra language to learn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56032" y="4572000"/>
            <a:ext cx="3819144" cy="384048"/>
          </a:xfrm>
          <a:prstGeom prst="rect">
            <a:avLst/>
          </a:prstGeom>
          <a:solidFill>
            <a:srgbClr val="2EA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7472" y="4599432"/>
            <a:ext cx="36545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Setup (3 commands)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56032" y="5029200"/>
            <a:ext cx="3819144" cy="347472"/>
          </a:xfrm>
          <a:prstGeom prst="rect">
            <a:avLst/>
          </a:prstGeom>
          <a:solidFill>
            <a:srgbClr val="051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7472" y="5047488"/>
            <a:ext cx="365455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EA044"/>
                </a:solidFill>
              </a:rPr>
              <a:t>$ npm init -y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56032" y="5413248"/>
            <a:ext cx="3819144" cy="347472"/>
          </a:xfrm>
          <a:prstGeom prst="rect">
            <a:avLst/>
          </a:prstGeom>
          <a:solidFill>
            <a:srgbClr val="051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7472" y="5431536"/>
            <a:ext cx="365455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EA044"/>
                </a:solidFill>
              </a:rPr>
              <a:t>$ npm install --save-dev @playwright/test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56032" y="5797296"/>
            <a:ext cx="3819144" cy="347472"/>
          </a:xfrm>
          <a:prstGeom prst="rect">
            <a:avLst/>
          </a:prstGeom>
          <a:solidFill>
            <a:srgbClr val="051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7472" y="5815584"/>
            <a:ext cx="365455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EA044"/>
                </a:solidFill>
              </a:rPr>
              <a:t>$ npx playwright install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56032" y="6181344"/>
            <a:ext cx="3819144" cy="347472"/>
          </a:xfrm>
          <a:prstGeom prst="rect">
            <a:avLst/>
          </a:prstGeom>
          <a:solidFill>
            <a:srgbClr val="051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7472" y="6199632"/>
            <a:ext cx="365455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6B6D4"/>
                </a:solidFill>
              </a:rPr>
              <a:t>$ npx playwright test   # run tests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84904" y="1572768"/>
            <a:ext cx="3910584" cy="384048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76344" y="1600200"/>
            <a:ext cx="37459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Example Test — Login Page (JavaScript)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84904" y="2029968"/>
            <a:ext cx="3910584" cy="4626864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12920" y="2103120"/>
            <a:ext cx="3709416" cy="210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 i="0">
                <a:solidFill>
                  <a:srgbClr val="9CA3AF"/>
                </a:solidFill>
              </a:rPr>
              <a:t>// tests/login.spec.js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12920" y="2313432"/>
            <a:ext cx="3709416" cy="210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 i="0">
                <a:solidFill>
                  <a:srgbClr val="DBEAFF"/>
                </a:solidFill>
              </a:rPr>
              <a:t>import { test, expect } from '@playwright/test';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12920" y="2523744"/>
            <a:ext cx="3709416" cy="210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12920" y="2734056"/>
            <a:ext cx="3709416" cy="210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 i="0">
                <a:solidFill>
                  <a:srgbClr val="F59E0B"/>
                </a:solidFill>
              </a:rPr>
              <a:t>test.describe('Login Page', () =&gt; {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12920" y="2944368"/>
            <a:ext cx="3709416" cy="210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12920" y="3154680"/>
            <a:ext cx="3709416" cy="210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  test('valid login redirects to dashboard',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12920" y="3364992"/>
            <a:ext cx="3709416" cy="210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       async ({ page }) =&gt; {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12920" y="3575304"/>
            <a:ext cx="3709416" cy="210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12920" y="3785616"/>
            <a:ext cx="3709416" cy="210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 i="0">
                <a:solidFill>
                  <a:srgbClr val="06B6D4"/>
                </a:solidFill>
              </a:rPr>
              <a:t>    await page.goto('https://example.com/login');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12920" y="3995928"/>
            <a:ext cx="3709416" cy="210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12920" y="4206240"/>
            <a:ext cx="3709416" cy="210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 i="0">
                <a:solidFill>
                  <a:srgbClr val="2EA044"/>
                </a:solidFill>
              </a:rPr>
              <a:t>    await page.getByLabel('Email')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12920" y="4416552"/>
            <a:ext cx="3709416" cy="210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 i="0">
                <a:solidFill>
                  <a:srgbClr val="2EA044"/>
                </a:solidFill>
              </a:rPr>
              <a:t>          .fill('user@example.com');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12920" y="4626864"/>
            <a:ext cx="3709416" cy="210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 i="0">
                <a:solidFill>
                  <a:srgbClr val="2EA044"/>
                </a:solidFill>
              </a:rPr>
              <a:t>    await page.getByLabel('Password').fill('p@ss!');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12920" y="4837176"/>
            <a:ext cx="3709416" cy="210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 i="0">
                <a:solidFill>
                  <a:srgbClr val="2EA044"/>
                </a:solidFill>
              </a:rPr>
              <a:t>    await page.getByRole('button',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12920" y="5047488"/>
            <a:ext cx="3709416" cy="210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 i="0">
                <a:solidFill>
                  <a:srgbClr val="2EA044"/>
                </a:solidFill>
              </a:rPr>
              <a:t>          { name: 'Login' }).click();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12920" y="5257800"/>
            <a:ext cx="3709416" cy="210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312920" y="5468112"/>
            <a:ext cx="3709416" cy="210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 i="0">
                <a:solidFill>
                  <a:srgbClr val="F59E0B"/>
                </a:solidFill>
              </a:rPr>
              <a:t>    await expect(page).toHaveURL('/dashboard');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312920" y="5678424"/>
            <a:ext cx="3709416" cy="210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 i="0">
                <a:solidFill>
                  <a:srgbClr val="F59E0B"/>
                </a:solidFill>
              </a:rPr>
              <a:t>    await expect(page.getByText('Welcome'))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312920" y="5888736"/>
            <a:ext cx="3709416" cy="210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 i="0">
                <a:solidFill>
                  <a:srgbClr val="F59E0B"/>
                </a:solidFill>
              </a:rPr>
              <a:t>          .toBeVisible();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12920" y="6099048"/>
            <a:ext cx="3709416" cy="210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  });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312920" y="6309360"/>
            <a:ext cx="3709416" cy="210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 i="0">
                <a:solidFill>
                  <a:srgbClr val="F59E0B"/>
                </a:solidFill>
              </a:rPr>
              <a:t>});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205216" y="1572768"/>
            <a:ext cx="3727704" cy="384048"/>
          </a:xfrm>
          <a:prstGeom prst="rect">
            <a:avLst/>
          </a:prstGeom>
          <a:solidFill>
            <a:srgbClr val="2EA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296656" y="1600200"/>
            <a:ext cx="35631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Key Concepts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205216" y="2029968"/>
            <a:ext cx="3727704" cy="585216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205216" y="2029968"/>
            <a:ext cx="73152" cy="585216"/>
          </a:xfrm>
          <a:prstGeom prst="rect">
            <a:avLst/>
          </a:prstGeom>
          <a:solidFill>
            <a:srgbClr val="2EA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369808" y="2066544"/>
            <a:ext cx="3489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A044"/>
                </a:solidFill>
              </a:rPr>
              <a:t>page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69808" y="2350008"/>
            <a:ext cx="3489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</a:rPr>
              <a:t>The browser tab — navigate &amp; interact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205216" y="2688336"/>
            <a:ext cx="3727704" cy="585216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8205216" y="2688336"/>
            <a:ext cx="73152" cy="585216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369808" y="2724912"/>
            <a:ext cx="3489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56DB"/>
                </a:solidFill>
              </a:rPr>
              <a:t>locator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369808" y="3008376"/>
            <a:ext cx="3489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</a:rPr>
              <a:t>Finds elements smartly &amp; reliably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205216" y="3346704"/>
            <a:ext cx="3727704" cy="585216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205216" y="3346704"/>
            <a:ext cx="73152" cy="58521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369808" y="3383280"/>
            <a:ext cx="3489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</a:rPr>
              <a:t>expect()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369808" y="3666744"/>
            <a:ext cx="3489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</a:rPr>
              <a:t>Assertion with auto-retry built in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205216" y="4005072"/>
            <a:ext cx="3727704" cy="585216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205216" y="4005072"/>
            <a:ext cx="73152" cy="58521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369808" y="4041648"/>
            <a:ext cx="3489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B6D4"/>
                </a:solidFill>
              </a:rPr>
              <a:t>test.beforeEach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369808" y="4325112"/>
            <a:ext cx="3489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</a:rPr>
              <a:t>Setup hook before each test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205216" y="4663440"/>
            <a:ext cx="3727704" cy="585216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8205216" y="4663440"/>
            <a:ext cx="73152" cy="5852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369808" y="4700016"/>
            <a:ext cx="3489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59669"/>
                </a:solidFill>
              </a:rPr>
              <a:t>fixtures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69808" y="4983480"/>
            <a:ext cx="3489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</a:rPr>
              <a:t>Shared page/browser across tests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205216" y="5321808"/>
            <a:ext cx="3727704" cy="585216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8205216" y="5321808"/>
            <a:ext cx="73152" cy="58521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369808" y="5358384"/>
            <a:ext cx="3489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7C3AED"/>
                </a:solidFill>
              </a:rPr>
              <a:t>Page Object Model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369808" y="5641848"/>
            <a:ext cx="3489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</a:rPr>
              <a:t>Class per page — maintainable tests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205216" y="5980176"/>
            <a:ext cx="3727704" cy="585216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8205216" y="5980176"/>
            <a:ext cx="73152" cy="585216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369808" y="6016752"/>
            <a:ext cx="3489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9CA3AF"/>
                </a:solidFill>
              </a:rPr>
              <a:t>trace viewer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369808" y="6300216"/>
            <a:ext cx="3489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</a:rPr>
              <a:t>Record &amp; replay — debug any failure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15568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5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56032" y="201168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52CC"/>
                </a:solidFill>
              </a:rPr>
              <a:t>JIRA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512064"/>
            <a:ext cx="11430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Jira — Test Cases &amp; Bug Reports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" y="987552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BEAFF"/>
                </a:solidFill>
              </a:rPr>
              <a:t>The industry-standard tool for managing test cases, tracking bugs, and reporting quality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256032" y="1298448"/>
            <a:ext cx="5783580" cy="402336"/>
          </a:xfrm>
          <a:prstGeom prst="rect">
            <a:avLst/>
          </a:prstGeom>
          <a:solidFill>
            <a:srgbClr val="005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335024"/>
            <a:ext cx="56007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Writing Test Cases in Jira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6032" y="1773936"/>
            <a:ext cx="5783580" cy="585216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6032" y="1773936"/>
            <a:ext cx="91440" cy="585216"/>
          </a:xfrm>
          <a:prstGeom prst="rect">
            <a:avLst/>
          </a:prstGeom>
          <a:solidFill>
            <a:srgbClr val="005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" y="1810512"/>
            <a:ext cx="1508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52CC"/>
                </a:solidFill>
              </a:rPr>
              <a:t>Test Case 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93392" y="1810512"/>
            <a:ext cx="39547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Unique identifier e.g. TC-001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6032" y="2432304"/>
            <a:ext cx="5783580" cy="585216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56032" y="2432304"/>
            <a:ext cx="91440" cy="585216"/>
          </a:xfrm>
          <a:prstGeom prst="rect">
            <a:avLst/>
          </a:prstGeom>
          <a:solidFill>
            <a:srgbClr val="005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" y="2468880"/>
            <a:ext cx="1508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52CC"/>
                </a:solidFill>
              </a:rPr>
              <a:t>Title / Summary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93392" y="2468880"/>
            <a:ext cx="39547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One-line description of what is being tested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6032" y="3090672"/>
            <a:ext cx="5783580" cy="585216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6032" y="3090672"/>
            <a:ext cx="91440" cy="585216"/>
          </a:xfrm>
          <a:prstGeom prst="rect">
            <a:avLst/>
          </a:prstGeom>
          <a:solidFill>
            <a:srgbClr val="005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2" y="3127248"/>
            <a:ext cx="1508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52CC"/>
                </a:solidFill>
              </a:rPr>
              <a:t>Preconditions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93392" y="3127248"/>
            <a:ext cx="39547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What must be true before the test runs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6032" y="3749040"/>
            <a:ext cx="5783580" cy="585216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56032" y="3749040"/>
            <a:ext cx="91440" cy="585216"/>
          </a:xfrm>
          <a:prstGeom prst="rect">
            <a:avLst/>
          </a:prstGeom>
          <a:solidFill>
            <a:srgbClr val="005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" y="3785616"/>
            <a:ext cx="1508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52CC"/>
                </a:solidFill>
              </a:rPr>
              <a:t>Test Steps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93392" y="3785616"/>
            <a:ext cx="39547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Step-by-step instructions — clear and numbered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6032" y="4407408"/>
            <a:ext cx="5783580" cy="585216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56032" y="4407408"/>
            <a:ext cx="91440" cy="585216"/>
          </a:xfrm>
          <a:prstGeom prst="rect">
            <a:avLst/>
          </a:prstGeom>
          <a:solidFill>
            <a:srgbClr val="005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8912" y="4443984"/>
            <a:ext cx="1508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52CC"/>
                </a:solidFill>
              </a:rPr>
              <a:t>Expected Result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93392" y="4443984"/>
            <a:ext cx="39547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What the correct behavior should be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6032" y="5065776"/>
            <a:ext cx="5783580" cy="585216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56032" y="5065776"/>
            <a:ext cx="91440" cy="585216"/>
          </a:xfrm>
          <a:prstGeom prst="rect">
            <a:avLst/>
          </a:prstGeom>
          <a:solidFill>
            <a:srgbClr val="005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8912" y="5102352"/>
            <a:ext cx="1508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52CC"/>
                </a:solidFill>
              </a:rPr>
              <a:t>Actual Result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993392" y="5102352"/>
            <a:ext cx="39547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What actually happened — filled during execution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6032" y="5724144"/>
            <a:ext cx="5783580" cy="585216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56032" y="5724144"/>
            <a:ext cx="91440" cy="585216"/>
          </a:xfrm>
          <a:prstGeom prst="rect">
            <a:avLst/>
          </a:prstGeom>
          <a:solidFill>
            <a:srgbClr val="005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8912" y="5760720"/>
            <a:ext cx="1508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52CC"/>
                </a:solidFill>
              </a:rPr>
              <a:t>Status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93392" y="5760720"/>
            <a:ext cx="39547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Pass / Fail / Blocked / Not Executed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49340" y="1298448"/>
            <a:ext cx="5783580" cy="40233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59068" y="1335024"/>
            <a:ext cx="56007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Writing Bug Reports in Jira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49340" y="1773936"/>
            <a:ext cx="5783580" cy="521207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149340" y="1773936"/>
            <a:ext cx="91440" cy="521207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32220" y="1810512"/>
            <a:ext cx="1691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DC2626"/>
                </a:solidFill>
              </a:rPr>
              <a:t>Bug ID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69580" y="1810512"/>
            <a:ext cx="3771900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Auto-generated by Jira (e.g. QA-42)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49340" y="2359152"/>
            <a:ext cx="5783580" cy="521207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149340" y="2359152"/>
            <a:ext cx="91440" cy="521207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32220" y="2395728"/>
            <a:ext cx="1691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DC2626"/>
                </a:solidFill>
              </a:rPr>
              <a:t>Summary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69580" y="2395728"/>
            <a:ext cx="3771900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One-line description of the problem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49340" y="2944368"/>
            <a:ext cx="5783580" cy="521207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149340" y="2944368"/>
            <a:ext cx="91440" cy="521207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32220" y="2980944"/>
            <a:ext cx="1691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DC2626"/>
                </a:solidFill>
              </a:rPr>
              <a:t>Environment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69580" y="2980944"/>
            <a:ext cx="3771900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OS, browser, app version where bug was found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49340" y="3529584"/>
            <a:ext cx="5783580" cy="521207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149340" y="3529584"/>
            <a:ext cx="91440" cy="521207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32220" y="3566160"/>
            <a:ext cx="1691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DC2626"/>
                </a:solidFill>
              </a:rPr>
              <a:t>Steps to Reproduce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069580" y="3566160"/>
            <a:ext cx="3771900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Exact numbered steps to trigger the bug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149340" y="4114800"/>
            <a:ext cx="5783580" cy="521207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149340" y="4114800"/>
            <a:ext cx="91440" cy="521207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332220" y="4151376"/>
            <a:ext cx="1691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DC2626"/>
                </a:solidFill>
              </a:rPr>
              <a:t>Expected Result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69580" y="4151376"/>
            <a:ext cx="3771900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What should have happened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149340" y="4700016"/>
            <a:ext cx="5783580" cy="521207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149340" y="4700016"/>
            <a:ext cx="91440" cy="521207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32220" y="4736592"/>
            <a:ext cx="1691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DC2626"/>
                </a:solidFill>
              </a:rPr>
              <a:t>Actual Result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069580" y="4736592"/>
            <a:ext cx="3771900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What happened instead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149340" y="5285232"/>
            <a:ext cx="5783580" cy="521207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149340" y="5285232"/>
            <a:ext cx="91440" cy="521207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32220" y="5321808"/>
            <a:ext cx="1691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DC2626"/>
                </a:solidFill>
              </a:rPr>
              <a:t>Severity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069580" y="5321808"/>
            <a:ext cx="3771900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Critical / Major / Minor / Trivial — impact level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149340" y="5870448"/>
            <a:ext cx="5783580" cy="521207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149340" y="5870448"/>
            <a:ext cx="91440" cy="521207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332220" y="5907024"/>
            <a:ext cx="1691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DC2626"/>
                </a:solidFill>
              </a:rPr>
              <a:t>Priority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069580" y="5907024"/>
            <a:ext cx="3771900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High / Medium / Low — urgency to fix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56032" y="6492240"/>
            <a:ext cx="11676888" cy="1905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56032" y="6528816"/>
            <a:ext cx="116768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1F2937"/>
                </a:solidFill>
              </a:rPr>
              <a:t>A great bug report lets any developer reproduce, understand, and fix the issue — without needing to ask a single question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15568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429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56032" y="201168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4292E"/>
                </a:solidFill>
              </a:rPr>
              <a:t>GITHUB PORTFOLIO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512064"/>
            <a:ext cx="11430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Building Your GitHub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" y="987552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BEAFF"/>
                </a:solidFill>
              </a:rPr>
              <a:t>Your GitHub profile is your CV — it shows employers your skills with real code</a:t>
            </a:r>
          </a:p>
        </p:txBody>
      </p:sp>
      <p:sp>
        <p:nvSpPr>
          <p:cNvPr id="8" name="Rectangle 7"/>
          <p:cNvSpPr/>
          <p:nvPr/>
        </p:nvSpPr>
        <p:spPr>
          <a:xfrm>
            <a:off x="256032" y="1298448"/>
            <a:ext cx="5783580" cy="402336"/>
          </a:xfrm>
          <a:prstGeom prst="rect">
            <a:avLst/>
          </a:prstGeom>
          <a:solidFill>
            <a:srgbClr val="2429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335024"/>
            <a:ext cx="56007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Setting Up Your GitHub Profile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6032" y="1773936"/>
            <a:ext cx="5783580" cy="585216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6032" y="1773936"/>
            <a:ext cx="91440" cy="585216"/>
          </a:xfrm>
          <a:prstGeom prst="rect">
            <a:avLst/>
          </a:prstGeom>
          <a:solidFill>
            <a:srgbClr val="2EA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" y="1810512"/>
            <a:ext cx="55275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1F44"/>
                </a:solidFill>
              </a:rPr>
              <a:t>1. Create your GitHub account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2084832"/>
            <a:ext cx="55275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</a:rPr>
              <a:t>Go to github.com — Sign Up — choose a professional username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6032" y="2432304"/>
            <a:ext cx="5783580" cy="585216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56032" y="2432304"/>
            <a:ext cx="91440" cy="585216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" y="2468880"/>
            <a:ext cx="55275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1F44"/>
                </a:solidFill>
              </a:rPr>
              <a:t>2. Complete your profile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" y="2743200"/>
            <a:ext cx="55275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</a:rPr>
              <a:t>Add a photo, bio, location, and link to LinkedIn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6032" y="3090672"/>
            <a:ext cx="5783580" cy="585216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6032" y="3090672"/>
            <a:ext cx="91440" cy="58521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2" y="3127248"/>
            <a:ext cx="55275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1F44"/>
                </a:solidFill>
              </a:rPr>
              <a:t>3. Create a pinned repository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" y="3401568"/>
            <a:ext cx="55275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</a:rPr>
              <a:t>Your capstone Playwright project — public, with a clear name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6032" y="3749040"/>
            <a:ext cx="5783580" cy="585216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56032" y="3749040"/>
            <a:ext cx="91440" cy="58521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" y="3785616"/>
            <a:ext cx="55275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1F44"/>
                </a:solidFill>
              </a:rPr>
              <a:t>4. Write a great README.md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2" y="4059936"/>
            <a:ext cx="55275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</a:rPr>
              <a:t>Project title, what it tests, how to install, how to run, screenshots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6032" y="4407408"/>
            <a:ext cx="5783580" cy="585216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56032" y="4407408"/>
            <a:ext cx="91440" cy="5852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8912" y="4443984"/>
            <a:ext cx="55275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1F44"/>
                </a:solidFill>
              </a:rPr>
              <a:t>5. Commit your Playwright tests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912" y="4718304"/>
            <a:ext cx="55275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</a:rPr>
              <a:t>Push all test files — organized by feature in the tests/ folder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6032" y="5065776"/>
            <a:ext cx="5783580" cy="585216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56032" y="5065776"/>
            <a:ext cx="91440" cy="58521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8912" y="5102352"/>
            <a:ext cx="55275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1F44"/>
                </a:solidFill>
              </a:rPr>
              <a:t>6. Add a screenshot or demo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12" y="5376672"/>
            <a:ext cx="55275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</a:rPr>
              <a:t>Include a Playwright HTML report screenshot in the README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6032" y="5724144"/>
            <a:ext cx="5783580" cy="585216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56032" y="5724144"/>
            <a:ext cx="91440" cy="585216"/>
          </a:xfrm>
          <a:prstGeom prst="rect">
            <a:avLst/>
          </a:prstGeom>
          <a:solidFill>
            <a:srgbClr val="2429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8912" y="5760720"/>
            <a:ext cx="55275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1F44"/>
                </a:solidFill>
              </a:rPr>
              <a:t>7. Share the link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8912" y="6035040"/>
            <a:ext cx="55275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</a:rPr>
              <a:t>Add github.com/your-username to your CV and LinkedIn profile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49340" y="1298448"/>
            <a:ext cx="5783580" cy="402336"/>
          </a:xfrm>
          <a:prstGeom prst="rect">
            <a:avLst/>
          </a:prstGeom>
          <a:solidFill>
            <a:srgbClr val="2429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59068" y="1335024"/>
            <a:ext cx="56007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What Employers Look For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49340" y="1773936"/>
            <a:ext cx="5783580" cy="694944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149340" y="1773936"/>
            <a:ext cx="91440" cy="69494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32220" y="1810512"/>
            <a:ext cx="55275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1F44"/>
                </a:solidFill>
              </a:rPr>
              <a:t>YES  Clean, organized code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32220" y="2103120"/>
            <a:ext cx="55275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Meaningful file names, comments where helpful, no leftover debug code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49340" y="2542032"/>
            <a:ext cx="5783580" cy="694944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149340" y="2542032"/>
            <a:ext cx="91440" cy="69494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32220" y="2578608"/>
            <a:ext cx="55275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1F44"/>
                </a:solidFill>
              </a:rPr>
              <a:t>YES  Professional README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32220" y="2871216"/>
            <a:ext cx="55275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Describes the project clearly — purpose, tech stack, setup, screenshots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49340" y="3310128"/>
            <a:ext cx="5783580" cy="694944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149340" y="3310128"/>
            <a:ext cx="91440" cy="69494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32220" y="3346704"/>
            <a:ext cx="55275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1F44"/>
                </a:solidFill>
              </a:rPr>
              <a:t>YES  Real test coverage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32220" y="3639312"/>
            <a:ext cx="55275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Login, search, forms, navigation — not just a hello-world test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49340" y="4078224"/>
            <a:ext cx="5783580" cy="694944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149340" y="4078224"/>
            <a:ext cx="91440" cy="69494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32220" y="4114800"/>
            <a:ext cx="55275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1F44"/>
                </a:solidFill>
              </a:rPr>
              <a:t>YES  Consistent commits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32220" y="4407408"/>
            <a:ext cx="55275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Regular small commits show systematic, professional work habits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149340" y="4846320"/>
            <a:ext cx="5783580" cy="694944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149340" y="4846320"/>
            <a:ext cx="91440" cy="694944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332220" y="4882896"/>
            <a:ext cx="55275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1F44"/>
                </a:solidFill>
              </a:rPr>
              <a:t>NO  Empty or confusing repos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32220" y="5175504"/>
            <a:ext cx="55275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No README, no structure, or files named test1.js, test2.js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149340" y="5614416"/>
            <a:ext cx="5783580" cy="694944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149340" y="5614416"/>
            <a:ext cx="91440" cy="694944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32220" y="5650992"/>
            <a:ext cx="55275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1F44"/>
                </a:solidFill>
              </a:rPr>
              <a:t>NO  Only one project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32220" y="5943600"/>
            <a:ext cx="55275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Even a small Postman collection as a second project adds credibility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56032" y="6492240"/>
            <a:ext cx="11676888" cy="1905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56032" y="6528816"/>
            <a:ext cx="116768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1">
                <a:solidFill>
                  <a:srgbClr val="24292E"/>
                </a:solidFill>
              </a:rPr>
              <a:t>Your GitHub portfolio is often more valuable than your certificate — it shows employers what you can actually build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15568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56032" y="201168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59E0B"/>
                </a:solidFill>
              </a:rPr>
              <a:t>CAPSTONE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512064"/>
            <a:ext cx="11430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Capstone Project — Build &amp; Submit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" y="987552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BEAFF"/>
                </a:solidFill>
              </a:rPr>
              <a:t>Your final project brings together everything — and goes on your GitHub profile</a:t>
            </a:r>
          </a:p>
        </p:txBody>
      </p:sp>
      <p:sp>
        <p:nvSpPr>
          <p:cNvPr id="8" name="Rectangle 7"/>
          <p:cNvSpPr/>
          <p:nvPr/>
        </p:nvSpPr>
        <p:spPr>
          <a:xfrm>
            <a:off x="256032" y="1298448"/>
            <a:ext cx="5783580" cy="40233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335024"/>
            <a:ext cx="56007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What You Will Deliver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6032" y="1773936"/>
            <a:ext cx="5783580" cy="107899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6032" y="1773936"/>
            <a:ext cx="91440" cy="1078992"/>
          </a:xfrm>
          <a:prstGeom prst="rect">
            <a:avLst/>
          </a:prstGeom>
          <a:solidFill>
            <a:srgbClr val="2EA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" y="1828800"/>
            <a:ext cx="55275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A1F44"/>
                </a:solidFill>
              </a:rPr>
              <a:t>Playwright Test Suite (JavaScript)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2212848"/>
            <a:ext cx="5527548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Minimum 8 automated test cases — login, search, form, navigation of a real web app.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6032" y="2944368"/>
            <a:ext cx="5783580" cy="107899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56032" y="2944368"/>
            <a:ext cx="91440" cy="1078992"/>
          </a:xfrm>
          <a:prstGeom prst="rect">
            <a:avLst/>
          </a:prstGeom>
          <a:solidFill>
            <a:srgbClr val="005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" y="2999232"/>
            <a:ext cx="55275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A1F44"/>
                </a:solidFill>
              </a:rPr>
              <a:t>Test Cases in Jira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" y="3383280"/>
            <a:ext cx="5527548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At least 5 test cases with preconditions, steps, expected results, and status.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6032" y="4114800"/>
            <a:ext cx="5783580" cy="107899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6032" y="4114800"/>
            <a:ext cx="91440" cy="107899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2" y="4169664"/>
            <a:ext cx="55275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A1F44"/>
                </a:solidFill>
              </a:rPr>
              <a:t>Bug Reports in Jira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" y="4553712"/>
            <a:ext cx="5527548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At least 3 professional bug reports with steps to reproduce, severity, and screenshots.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6032" y="5285232"/>
            <a:ext cx="5783580" cy="107899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56032" y="5285232"/>
            <a:ext cx="91440" cy="1078992"/>
          </a:xfrm>
          <a:prstGeom prst="rect">
            <a:avLst/>
          </a:prstGeom>
          <a:solidFill>
            <a:srgbClr val="2429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" y="5340096"/>
            <a:ext cx="55275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A1F44"/>
                </a:solidFill>
              </a:rPr>
              <a:t>GitHub Repository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2" y="5724144"/>
            <a:ext cx="5527548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Test suite published on GitHub with a professional README and clean folder structure.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9340" y="1298448"/>
            <a:ext cx="5783580" cy="40233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59068" y="1335024"/>
            <a:ext cx="56007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Grading Criteria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49340" y="1773936"/>
            <a:ext cx="5783580" cy="676656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49340" y="1773936"/>
            <a:ext cx="91440" cy="67665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13932" y="1810512"/>
            <a:ext cx="594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59E0B"/>
                </a:solidFill>
              </a:rPr>
              <a:t>30%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54012" y="1810512"/>
            <a:ext cx="49057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A1F44"/>
                </a:solidFill>
              </a:rPr>
              <a:t>Test Coverage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54012" y="2121408"/>
            <a:ext cx="49057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Does the suite cover the required user flows?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49340" y="2523744"/>
            <a:ext cx="5783580" cy="676656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49340" y="2523744"/>
            <a:ext cx="91440" cy="67665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13932" y="2560320"/>
            <a:ext cx="594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59E0B"/>
                </a:solidFill>
              </a:rPr>
              <a:t>20%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54012" y="2560320"/>
            <a:ext cx="49057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A1F44"/>
                </a:solidFill>
              </a:rPr>
              <a:t>Code Quality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54012" y="2871216"/>
            <a:ext cx="49057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Clean code, meaningful names, POM pattern used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49340" y="3273552"/>
            <a:ext cx="5783580" cy="676656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49340" y="3273552"/>
            <a:ext cx="91440" cy="67665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13932" y="3310128"/>
            <a:ext cx="594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59E0B"/>
                </a:solidFill>
              </a:rPr>
              <a:t>20%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54012" y="3310128"/>
            <a:ext cx="49057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A1F44"/>
                </a:solidFill>
              </a:rPr>
              <a:t>Jira Test Cases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54012" y="3621024"/>
            <a:ext cx="49057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Complete, well-structured test case documentation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49340" y="4023360"/>
            <a:ext cx="5783580" cy="676656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49340" y="4023360"/>
            <a:ext cx="91440" cy="67665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13932" y="4059936"/>
            <a:ext cx="594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59E0B"/>
                </a:solidFill>
              </a:rPr>
              <a:t>20%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54012" y="4059936"/>
            <a:ext cx="49057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A1F44"/>
                </a:solidFill>
              </a:rPr>
              <a:t>Bug Reports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54012" y="4370832"/>
            <a:ext cx="49057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Clear, reproducible bug reports with evidence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49340" y="4773168"/>
            <a:ext cx="5783580" cy="676656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149340" y="4773168"/>
            <a:ext cx="91440" cy="67665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13932" y="4809744"/>
            <a:ext cx="594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59E0B"/>
                </a:solidFill>
              </a:rPr>
              <a:t>10%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954012" y="4809744"/>
            <a:ext cx="49057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A1F44"/>
                </a:solidFill>
              </a:rPr>
              <a:t>GitHub Repository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954012" y="5120640"/>
            <a:ext cx="49057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Professional README, clean structure, commits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56032" y="6492240"/>
            <a:ext cx="11676888" cy="1905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6032" y="6528816"/>
            <a:ext cx="116768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1">
                <a:solidFill>
                  <a:srgbClr val="F59E0B"/>
                </a:solidFill>
              </a:rPr>
              <a:t>Graduates who complete the capstone project receive their Certificate and a showcase feature on our graduate page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25603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6B6D4"/>
                </a:solidFill>
              </a:rPr>
              <a:t>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" y="566928"/>
            <a:ext cx="11430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Tools &amp; Technologies You Will Master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117043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CA3AF"/>
                </a:solidFill>
              </a:rPr>
              <a:t>Hands-on experience with the industry leading QA and automation tools</a:t>
            </a:r>
          </a:p>
        </p:txBody>
      </p:sp>
      <p:sp>
        <p:nvSpPr>
          <p:cNvPr id="7" name="Rectangle 6"/>
          <p:cNvSpPr/>
          <p:nvPr/>
        </p:nvSpPr>
        <p:spPr>
          <a:xfrm>
            <a:off x="256032" y="1572768"/>
            <a:ext cx="3819144" cy="1874519"/>
          </a:xfrm>
          <a:prstGeom prst="rect">
            <a:avLst/>
          </a:prstGeom>
          <a:solidFill>
            <a:srgbClr val="0E2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1572768"/>
            <a:ext cx="3819144" cy="73152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" y="1700784"/>
            <a:ext cx="36179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Postman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2103120"/>
            <a:ext cx="361797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56DB"/>
                </a:solidFill>
              </a:rPr>
              <a:t>API Testing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6032" y="2395728"/>
            <a:ext cx="11676888" cy="1905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3192" y="2487168"/>
            <a:ext cx="361797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Test RESTful APIs — send requests, write assertions, run collections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84904" y="1572768"/>
            <a:ext cx="3819144" cy="1874519"/>
          </a:xfrm>
          <a:prstGeom prst="rect">
            <a:avLst/>
          </a:prstGeom>
          <a:solidFill>
            <a:srgbClr val="0E2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84904" y="1572768"/>
            <a:ext cx="3819144" cy="73152"/>
          </a:xfrm>
          <a:prstGeom prst="rect">
            <a:avLst/>
          </a:prstGeom>
          <a:solidFill>
            <a:srgbClr val="2EA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22064" y="1700784"/>
            <a:ext cx="36179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Playwright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2064" y="2103120"/>
            <a:ext cx="361797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EA044"/>
                </a:solidFill>
              </a:rPr>
              <a:t>UI Test Automation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56032" y="2395728"/>
            <a:ext cx="11676888" cy="1905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22064" y="2487168"/>
            <a:ext cx="361797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Write and run automated browser tests in JavaScript — cross-browser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13776" y="1572768"/>
            <a:ext cx="3819144" cy="1874519"/>
          </a:xfrm>
          <a:prstGeom prst="rect">
            <a:avLst/>
          </a:prstGeom>
          <a:solidFill>
            <a:srgbClr val="0E2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13776" y="1572768"/>
            <a:ext cx="3819144" cy="73152"/>
          </a:xfrm>
          <a:prstGeom prst="rect">
            <a:avLst/>
          </a:prstGeom>
          <a:solidFill>
            <a:srgbClr val="F7D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50936" y="1700784"/>
            <a:ext cx="36179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JavaScript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0936" y="2103120"/>
            <a:ext cx="361797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7DF1E"/>
                </a:solidFill>
              </a:rPr>
              <a:t>Scripting Language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56032" y="2395728"/>
            <a:ext cx="11676888" cy="1905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50936" y="2487168"/>
            <a:ext cx="361797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The language powering your Playwright tests — no prior experience required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56032" y="3630167"/>
            <a:ext cx="3819144" cy="1874519"/>
          </a:xfrm>
          <a:prstGeom prst="rect">
            <a:avLst/>
          </a:prstGeom>
          <a:solidFill>
            <a:srgbClr val="0E2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56032" y="3630167"/>
            <a:ext cx="3819144" cy="73152"/>
          </a:xfrm>
          <a:prstGeom prst="rect">
            <a:avLst/>
          </a:prstGeom>
          <a:solidFill>
            <a:srgbClr val="005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93192" y="3758183"/>
            <a:ext cx="36179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Jira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3192" y="4160519"/>
            <a:ext cx="361797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52CC"/>
                </a:solidFill>
              </a:rPr>
              <a:t>Test &amp; Bug Management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56032" y="4453127"/>
            <a:ext cx="11676888" cy="1905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93192" y="4544567"/>
            <a:ext cx="361797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Create test cases, log bug reports, manage test cycles professionally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84904" y="3630167"/>
            <a:ext cx="3819144" cy="1874519"/>
          </a:xfrm>
          <a:prstGeom prst="rect">
            <a:avLst/>
          </a:prstGeom>
          <a:solidFill>
            <a:srgbClr val="0E2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184904" y="3630167"/>
            <a:ext cx="3819144" cy="73152"/>
          </a:xfrm>
          <a:prstGeom prst="rect">
            <a:avLst/>
          </a:prstGeom>
          <a:solidFill>
            <a:srgbClr val="2429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22064" y="3758183"/>
            <a:ext cx="36179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Git &amp; GitHub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22064" y="4160519"/>
            <a:ext cx="361797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4292E"/>
                </a:solidFill>
              </a:rPr>
              <a:t>Version Control + Portfolio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56032" y="4453127"/>
            <a:ext cx="11676888" cy="1905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22064" y="4544567"/>
            <a:ext cx="361797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Version control and host your automation project as a public portfolio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113776" y="3630167"/>
            <a:ext cx="3819144" cy="1874519"/>
          </a:xfrm>
          <a:prstGeom prst="rect">
            <a:avLst/>
          </a:prstGeom>
          <a:solidFill>
            <a:srgbClr val="0E2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113776" y="3630167"/>
            <a:ext cx="3819144" cy="7315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50936" y="3758183"/>
            <a:ext cx="36179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VS Code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50936" y="4160519"/>
            <a:ext cx="361797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59669"/>
                </a:solidFill>
              </a:rPr>
              <a:t>IDE &amp; Editor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56032" y="4453127"/>
            <a:ext cx="11676888" cy="1905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50936" y="4544567"/>
            <a:ext cx="361797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Write, run, and debug your Playwright tests with full IDE support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15568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56032" y="201168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59669"/>
                </a:solidFill>
              </a:rPr>
              <a:t>WHO IS THIS FOR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512064"/>
            <a:ext cx="11430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Who Is This Program For?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" y="987552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BEAFF"/>
                </a:solidFill>
              </a:rPr>
              <a:t>Target Audience — No prior testing experience required</a:t>
            </a:r>
          </a:p>
        </p:txBody>
      </p:sp>
      <p:sp>
        <p:nvSpPr>
          <p:cNvPr id="8" name="Rectangle 7"/>
          <p:cNvSpPr/>
          <p:nvPr/>
        </p:nvSpPr>
        <p:spPr>
          <a:xfrm>
            <a:off x="256032" y="1298448"/>
            <a:ext cx="2846070" cy="22402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1298448"/>
            <a:ext cx="2846070" cy="7315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3192" y="1463040"/>
            <a:ext cx="264490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A1F44"/>
                </a:solidFill>
              </a:rPr>
              <a:t>IT &amp; CS Graduates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6032" y="1892808"/>
            <a:ext cx="11676888" cy="1905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3192" y="1984248"/>
            <a:ext cx="264490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</a:rPr>
              <a:t>Recent graduates entering the QA job market for the first time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93542" y="1298448"/>
            <a:ext cx="2846070" cy="22402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193542" y="1298448"/>
            <a:ext cx="2846070" cy="73152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0702" y="1463040"/>
            <a:ext cx="264490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A1F44"/>
                </a:solidFill>
              </a:rPr>
              <a:t>Career Changers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6032" y="1892808"/>
            <a:ext cx="11676888" cy="1905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30702" y="1984248"/>
            <a:ext cx="264490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</a:rPr>
              <a:t>Professionals from other fields transitioning into QA engineering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31052" y="1298448"/>
            <a:ext cx="2846070" cy="22402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31052" y="1298448"/>
            <a:ext cx="2846070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8212" y="1463040"/>
            <a:ext cx="264490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A1F44"/>
                </a:solidFill>
              </a:rPr>
              <a:t>Junior Developers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56032" y="1892808"/>
            <a:ext cx="11676888" cy="1905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8212" y="1984248"/>
            <a:ext cx="264490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</a:rPr>
              <a:t>Developers wanting to understand testing, quality, and automation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68562" y="1298448"/>
            <a:ext cx="2846070" cy="22402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68562" y="1298448"/>
            <a:ext cx="284607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05722" y="1463040"/>
            <a:ext cx="264490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A1F44"/>
                </a:solidFill>
              </a:rPr>
              <a:t>Project Managers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6032" y="1892808"/>
            <a:ext cx="11676888" cy="1905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05722" y="1984248"/>
            <a:ext cx="264490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</a:rPr>
              <a:t>Professionals who want to deeply understand QA processes and tools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6032" y="3749039"/>
            <a:ext cx="11676888" cy="1905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56032" y="3840480"/>
            <a:ext cx="4572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A1F44"/>
                </a:solidFill>
              </a:rPr>
              <a:t>Enrollment Requirements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6032" y="4334256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</a:rPr>
              <a:t>✓  No prior software testing experience required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6032" y="468172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</a:rPr>
              <a:t>✓  Basic computer and internet familiarity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6032" y="502920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</a:rPr>
              <a:t>✓  Motivation to learn and grow professionally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56032" y="537667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</a:rPr>
              <a:t>✓  A personal computer (Windows / Mac / Linux) with internet access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828800"/>
            <a:ext cx="12188952" cy="254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754880"/>
            <a:ext cx="12188952" cy="254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91840" y="822960"/>
            <a:ext cx="5577840" cy="40233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91840" y="850392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1F44"/>
                </a:solidFill>
              </a:rPr>
              <a:t>Registration Is Now Open — Cohort 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298448"/>
            <a:ext cx="96012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</a:rPr>
              <a:t>Start Your Journey in
Software Testing Today!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127248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CA3AF"/>
                </a:solidFill>
              </a:rPr>
              <a:t>Concepts  •  Performance Testing  •  Automation  •  Playwright + JS  •  Jira  •  GitHub Portfolio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973836" y="3657600"/>
            <a:ext cx="2423160" cy="877824"/>
          </a:xfrm>
          <a:prstGeom prst="rect">
            <a:avLst/>
          </a:prstGeom>
          <a:solidFill>
            <a:srgbClr val="1030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3836" y="3694176"/>
            <a:ext cx="2423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6B6D4"/>
                </a:solidFill>
              </a:rP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3836" y="4151376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Lectures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79876" y="3657600"/>
            <a:ext cx="2423160" cy="877824"/>
          </a:xfrm>
          <a:prstGeom prst="rect">
            <a:avLst/>
          </a:prstGeom>
          <a:solidFill>
            <a:srgbClr val="1030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79876" y="3694176"/>
            <a:ext cx="2423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6B6D4"/>
                </a:solidFill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79876" y="4151376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Months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5916" y="3657600"/>
            <a:ext cx="2423160" cy="877824"/>
          </a:xfrm>
          <a:prstGeom prst="rect">
            <a:avLst/>
          </a:prstGeom>
          <a:solidFill>
            <a:srgbClr val="1030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5916" y="3694176"/>
            <a:ext cx="2423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6B6D4"/>
                </a:solidFill>
              </a:rPr>
              <a:t>Jira +
GitHub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5916" y="4151376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Tools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791956" y="3657600"/>
            <a:ext cx="2423160" cy="877824"/>
          </a:xfrm>
          <a:prstGeom prst="rect">
            <a:avLst/>
          </a:prstGeom>
          <a:solidFill>
            <a:srgbClr val="1030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91956" y="3694176"/>
            <a:ext cx="2423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6B6D4"/>
                </a:solidFill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91956" y="4151376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Final Project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0" y="4919472"/>
            <a:ext cx="3017520" cy="5943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0" y="4974336"/>
            <a:ext cx="301752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A1F44"/>
                </a:solidFill>
              </a:rPr>
              <a:t>Enroll Now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5669280"/>
            <a:ext cx="9601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CA3AF"/>
                </a:solidFill>
              </a:rPr>
              <a:t>info@example.com  |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