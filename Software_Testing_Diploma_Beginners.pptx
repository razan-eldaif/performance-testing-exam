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1" r:id="rId22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88952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926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</a:rPr>
              <a:t>NEW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749808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Software Testing Diploma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66420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6B6D4"/>
                </a:solidFill>
              </a:rPr>
              <a:t>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24871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CA3AF"/>
                </a:solidFill>
              </a:rPr>
              <a:t>A structured 2-month program — from testing fundamentals to automation with Playwright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" y="324612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6B6D4"/>
                </a:solidFill>
              </a:rPr>
              <a:t>2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37033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Duration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24612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6B6D4"/>
                </a:solidFill>
              </a:rPr>
              <a:t>12 Lectures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7033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24612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6B6D4"/>
                </a:solidFill>
              </a:rPr>
              <a:t>Beginner → 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37033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9136" y="324612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6B6D4"/>
                </a:solidFill>
              </a:rPr>
              <a:t>Certificate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37033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On Completion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4114800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" y="4279392"/>
            <a:ext cx="1167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Testing Concepts  •  Performance Testing  •  Automation  •  Playwright + JS  •  Jira  •  GitHub Portfolio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</a:rPr>
              <a:t>ABOUT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About the Program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What will you learn in 2 months?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261872"/>
            <a:ext cx="116768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</a:rPr>
              <a:t>A hands-on 2-month program that takes you from zero to a solid beginner-advanced level. You will master testing fundamentals, performance and automation concepts, write automated tests with Playwright + JavaScript, manage test cases and bugs in Jira, and finish with a real project hosted on your own GitHub portfolio.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2084831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2240280"/>
            <a:ext cx="5728716" cy="12344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2240280"/>
            <a:ext cx="5728716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" y="2368296"/>
            <a:ext cx="55001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Duration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" y="2770632"/>
            <a:ext cx="5500116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2 months / 12 lectures — online + practical workshops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4476" y="2240280"/>
            <a:ext cx="5728716" cy="12344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4476" y="2240280"/>
            <a:ext cx="5728716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1636" y="2368296"/>
            <a:ext cx="55001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1636" y="2770632"/>
            <a:ext cx="5500116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Concept-first: deep theory, then hands-on practice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566160"/>
            <a:ext cx="5728716" cy="12344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566160"/>
            <a:ext cx="5728716" cy="73152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3694176"/>
            <a:ext cx="55001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Automation Tool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" y="4096512"/>
            <a:ext cx="5500116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Playwright + JavaScript — modern, fast, cross-browser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4476" y="3566160"/>
            <a:ext cx="5728716" cy="12344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4476" y="3566160"/>
            <a:ext cx="5728716" cy="73152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1636" y="3694176"/>
            <a:ext cx="55001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Test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1636" y="4096512"/>
            <a:ext cx="5500116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Jira for writing test cases and professional bug reports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4892040"/>
            <a:ext cx="5728716" cy="12344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4892040"/>
            <a:ext cx="5728716" cy="73152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" y="5020056"/>
            <a:ext cx="55001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Portfolio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" y="5422392"/>
            <a:ext cx="5500116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Graduate with a real project on your GitHub profile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4476" y="4892040"/>
            <a:ext cx="5728716" cy="12344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94476" y="4892040"/>
            <a:ext cx="5728716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1636" y="5020056"/>
            <a:ext cx="55001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Outcome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1636" y="5422392"/>
            <a:ext cx="5500116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Ready for Junior QA Engineer roles with a strong portfolio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</a:rP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What You Will Master Upon Graduation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8 core skills — testing theory, tools, and professional practice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298448"/>
            <a:ext cx="91440" cy="566928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353312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</a:rPr>
              <a:t>01  Testing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1992" y="1353312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SDLC, STLC, test types, levels — the full picture of how software is tested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9340" y="1298448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9340" y="1298448"/>
            <a:ext cx="91440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2220" y="1353312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</a:rPr>
              <a:t>02  Test Case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5300" y="1353312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Equivalence Partitioning, Boundary Value Analysis, Decision Tables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1956816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1956816"/>
            <a:ext cx="91440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201168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03  Manual &amp; Functional Testing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1992" y="2011680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Smoke, Regression, Exploratory Testing — executed and documented professionally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9340" y="1956816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9340" y="1956816"/>
            <a:ext cx="91440" cy="5669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2220" y="201168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04  API Testing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5300" y="2011680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RESTful API testing with Postman — requests, assertions, collections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2615184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2615184"/>
            <a:ext cx="91440" cy="56692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267004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</a:rPr>
              <a:t>05  Performance Testing Concepts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21992" y="2670048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Load, Stress, Spike, Soak — types, metrics, and what to measure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9340" y="2615184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49340" y="2615184"/>
            <a:ext cx="91440" cy="566928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2220" y="267004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044"/>
                </a:solidFill>
              </a:rPr>
              <a:t>06  Automation Concepts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5300" y="2670048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When to automate, automation pyramid, framework types and strategy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" y="3273552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6032" y="3273552"/>
            <a:ext cx="91440" cy="566928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3328416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07  Playwright + JavaScript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21992" y="3328416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Write, run, and maintain automated UI tests using Playwright from scratch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9340" y="3273552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49340" y="3273552"/>
            <a:ext cx="91440" cy="566928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2220" y="3328416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4292E"/>
                </a:solidFill>
              </a:rPr>
              <a:t>08  Jira + GitHub Portfolio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15300" y="3328416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Test cases &amp; bug reports in Jira · Real project on your GitHub profile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" y="6492240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032" y="6528816"/>
            <a:ext cx="11676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1A56DB"/>
                </a:solidFill>
              </a:rPr>
              <a:t>Graduates are ready for Junior QA Engineer roles with hands-on experience in all key areas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256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CURRICULUM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6692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Curriculum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11704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12 Lectures — Foundation Track → Advanced Track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627632"/>
            <a:ext cx="5783580" cy="43891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64208"/>
            <a:ext cx="56007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Month 1 — Foundation Track  (Lectures 1–6)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2139696"/>
            <a:ext cx="5783580" cy="621792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2139696"/>
            <a:ext cx="475488" cy="62179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" y="226771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176272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Introduction to Software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487168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SDLC, STLC, 7 principles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816352"/>
            <a:ext cx="5783580" cy="621792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816352"/>
            <a:ext cx="475488" cy="62179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" y="29443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2852928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Testing Types &amp; Levels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163824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Unit / Integration / System / UAT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3493008"/>
            <a:ext cx="5783580" cy="621792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493008"/>
            <a:ext cx="475488" cy="62179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" y="362102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3529584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Test Case Design Techniques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840480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EP, BVA, Decision Tables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4169664"/>
            <a:ext cx="5783580" cy="621792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4169664"/>
            <a:ext cx="475488" cy="62179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4206240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Manual &amp; Functional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517136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Smoke, Regression, Exploratory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4846320"/>
            <a:ext cx="5783580" cy="621792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6032" y="4846320"/>
            <a:ext cx="475488" cy="62179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896" y="49743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882896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API Testing with Postman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5193792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REST, HTTP methods, assertions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5522976"/>
            <a:ext cx="5783580" cy="621792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6032" y="5522976"/>
            <a:ext cx="475488" cy="62179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6509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5559552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Defect Management &amp; Jira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" y="5870448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Bug life cycle, bug reports, Jira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49340" y="1627632"/>
            <a:ext cx="5783580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59068" y="1664208"/>
            <a:ext cx="56007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Month 2 — Advanced Track  (Lectures 7–12)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49340" y="2139696"/>
            <a:ext cx="5783580" cy="621792"/>
          </a:xfrm>
          <a:prstGeom prst="rect">
            <a:avLst/>
          </a:prstGeom>
          <a:solidFill>
            <a:srgbClr val="052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49340" y="2139696"/>
            <a:ext cx="475488" cy="6217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04204" y="226771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97980" y="2176272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Performance Testing Concepts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97980" y="2487168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Load, Stress, Spike, Soak — types &amp; metrics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49340" y="2816352"/>
            <a:ext cx="5783580" cy="621792"/>
          </a:xfrm>
          <a:prstGeom prst="rect">
            <a:avLst/>
          </a:prstGeom>
          <a:solidFill>
            <a:srgbClr val="052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49340" y="2816352"/>
            <a:ext cx="475488" cy="6217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04204" y="29443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97980" y="2852928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Test Automation Concepts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97980" y="3163824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Pyramid, frameworks, when to automate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49340" y="3493008"/>
            <a:ext cx="5783580" cy="621792"/>
          </a:xfrm>
          <a:prstGeom prst="rect">
            <a:avLst/>
          </a:prstGeom>
          <a:solidFill>
            <a:srgbClr val="052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49340" y="3493008"/>
            <a:ext cx="475488" cy="6217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04204" y="362102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09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97980" y="3529584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Playwright + JS — Setup &amp; Basics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7980" y="3840480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Install, config, first test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49340" y="4169664"/>
            <a:ext cx="5783580" cy="621792"/>
          </a:xfrm>
          <a:prstGeom prst="rect">
            <a:avLst/>
          </a:prstGeom>
          <a:solidFill>
            <a:srgbClr val="052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49340" y="4169664"/>
            <a:ext cx="475488" cy="6217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04204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97980" y="4206240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Playwright — Locators &amp; Assertions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97980" y="4517136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getByRole, expect(), trace viewer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49340" y="4846320"/>
            <a:ext cx="5783580" cy="621792"/>
          </a:xfrm>
          <a:prstGeom prst="rect">
            <a:avLst/>
          </a:prstGeom>
          <a:solidFill>
            <a:srgbClr val="052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49340" y="4846320"/>
            <a:ext cx="475488" cy="6217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04204" y="49743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7980" y="4882896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Jira — Test Cases &amp; Bug Reports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97980" y="5193792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Create, manage, and report in Jira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49340" y="5522976"/>
            <a:ext cx="5783580" cy="621792"/>
          </a:xfrm>
          <a:prstGeom prst="rect">
            <a:avLst/>
          </a:prstGeom>
          <a:solidFill>
            <a:srgbClr val="052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149340" y="5522976"/>
            <a:ext cx="475488" cy="6217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04204" y="56509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97980" y="5559552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GitHub Portfolio + Capstone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97980" y="5870448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Build your portfolio &amp; final project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</a:rP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Foundation Track — Lectures 1–6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Core Skills &amp; Fundamentals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298448"/>
            <a:ext cx="3819144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42646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01  Introduction to Software Testing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956816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SDLC — Software Development Life Cycle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37744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STLC — Software Testing Life 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79806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The 7 Principles of 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21868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V-Model and Agile approaches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84904" y="1298448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84904" y="1298448"/>
            <a:ext cx="3819144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2920" y="142646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02  Testing Types &amp; Levels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2920" y="1956816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Unit, Integration, System, UAT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2920" y="237744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Functional vs Non-Functional Testing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2920" y="279806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Black Box &amp; White Box Testing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2920" y="321868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Static vs Dynamic Testing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3776" y="1298448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13776" y="1298448"/>
            <a:ext cx="3819144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1792" y="142646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03  Test Case Design Techniques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41792" y="1956816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Equivalence Partitioning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1792" y="237744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Boundary Value Analysis (BVA)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1792" y="279806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Decision Table Testing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1792" y="321868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State Transition Testing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" y="3913632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6032" y="3913632"/>
            <a:ext cx="3819144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4041648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04  Manual &amp; Functional Testing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32" y="4507992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457200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Writing a professional Test Plan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499262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Smoke Testing &amp; Sanity Testing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" y="541324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Regression Testing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5833872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Exploratory Testing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84904" y="3913632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84904" y="3913632"/>
            <a:ext cx="3819144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12920" y="4041648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05  API Testing with Postman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" y="4507992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12920" y="457200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REST API fundamentals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2920" y="499262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HTTP Methods &amp; Status Codes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2920" y="541324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Writing assertions in Postman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2920" y="5833872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Running collection runner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13776" y="3913632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13776" y="3913632"/>
            <a:ext cx="3819144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41792" y="4041648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06  Defect Management &amp; Jira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6032" y="4507992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41792" y="457200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Bug Life Cycle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41792" y="499262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Writing a professional bug report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41792" y="541324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Severity vs Priority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41792" y="5833872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Logging defects in Jira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MONTH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Advanced Track — Lectures 7–12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Performance Concepts · Automation Concepts · Playwright · Jira · GitHub Portfolio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298448"/>
            <a:ext cx="3819144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42646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07  Performance Testing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956816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Load, Stress, Spike, Soak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37744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Key metrics: Response Time, Throughput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79806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Concurrent users &amp; error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21868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What to test and when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84904" y="1298448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84904" y="1298448"/>
            <a:ext cx="3819144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2920" y="142646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08  Test Automation Concepts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2920" y="1956816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When to automate? Decision criteria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2920" y="237744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The Automation Pyramid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2920" y="279806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Framework types (POM, Data-Driven, BDD)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2920" y="321868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Automation strategy &amp; maintenance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3776" y="1298448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13776" y="1298448"/>
            <a:ext cx="3819144" cy="73152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1792" y="142646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09  Playwright + JS — Setup &amp; Basics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41792" y="1956816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Installing Playwright with npm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1792" y="237744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playwright.config.js explained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1792" y="279806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Writing your first 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1792" y="321868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Running tests &amp; HTML reports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" y="3913632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6032" y="3913632"/>
            <a:ext cx="3819144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4041648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10  Playwright — Locators &amp; Assertions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32" y="4507992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457200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getByRole, getByText, getByLabel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499262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Actions: click, fill, navigate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" y="541324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expect().toBeVisible() and more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5833872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Debugging with trace viewer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84904" y="3913632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84904" y="3913632"/>
            <a:ext cx="3819144" cy="73152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12920" y="4041648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11  Jira — Test Cases &amp; Bug Reports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" y="4507992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12920" y="457200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Creating a Jira project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2920" y="499262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Writing test cases in Jira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2920" y="541324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Logging bug reports with evidence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2920" y="5833872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Linking bugs to test cycles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13776" y="3913632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13776" y="3913632"/>
            <a:ext cx="3819144" cy="73152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41792" y="4041648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12  GitHub Portfolio + Capstone Project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6032" y="4507992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41792" y="457200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Creating your GitHub profile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41792" y="499262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Writing a professional README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41792" y="541324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Uploading your Playwright project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41792" y="5833872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Presenting your work to employers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PERFORMANCE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Performance Testing — Concepts &amp; Theory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Understanding how a system behaves under different load conditions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5783580" cy="4023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Types of Performance Testing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773936"/>
            <a:ext cx="5783580" cy="8046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773936"/>
            <a:ext cx="91440" cy="8046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81051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6B6D4"/>
                </a:solidFill>
              </a:rPr>
              <a:t>Load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1810512"/>
            <a:ext cx="39547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Test under expected, normal load — verify the system meets its performance targets.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670048"/>
            <a:ext cx="5783580" cy="8046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670048"/>
            <a:ext cx="91440" cy="80467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70662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56DB"/>
                </a:solidFill>
              </a:rPr>
              <a:t>Stress Testing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93392" y="2706624"/>
            <a:ext cx="39547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Push beyond normal limits to find the breaking point and how the system recovers.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566160"/>
            <a:ext cx="5783580" cy="8046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566160"/>
            <a:ext cx="9144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360273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59E0B"/>
                </a:solidFill>
              </a:rPr>
              <a:t>Spike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93392" y="3602736"/>
            <a:ext cx="39547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Simulate a sudden sharp increase in users — does the system recover gracefully?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462272"/>
            <a:ext cx="5783580" cy="8046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4462272"/>
            <a:ext cx="91440" cy="8046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44988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59669"/>
                </a:solidFill>
              </a:rPr>
              <a:t>Soak / Endurance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93392" y="4498848"/>
            <a:ext cx="39547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Sustained load over hours — detects memory leaks and gradual performance degradation.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5358384"/>
            <a:ext cx="5783580" cy="8046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5358384"/>
            <a:ext cx="91440" cy="8046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53949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7C3AED"/>
                </a:solidFill>
              </a:rPr>
              <a:t>Scalability Testing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93392" y="5394960"/>
            <a:ext cx="39547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Measure how performance changes as load is gradually increased step by step.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49340" y="1298448"/>
            <a:ext cx="5783580" cy="402336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9068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Key Metrics to Measure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49340" y="1773936"/>
            <a:ext cx="57835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49340" y="1773936"/>
            <a:ext cx="91440" cy="640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2220" y="181051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Response 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8140" y="1810512"/>
            <a:ext cx="38633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Time from request sent to response received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9340" y="2487168"/>
            <a:ext cx="57835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49340" y="2487168"/>
            <a:ext cx="91440" cy="6400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2220" y="2523744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Throughput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8140" y="2523744"/>
            <a:ext cx="38633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Transactions processed per second (TPS)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9340" y="3200400"/>
            <a:ext cx="57835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49340" y="3200400"/>
            <a:ext cx="9144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32220" y="3236976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Concurrent Users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78140" y="3236976"/>
            <a:ext cx="38633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Users active on the system simultaneously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49340" y="3913632"/>
            <a:ext cx="57835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49340" y="3913632"/>
            <a:ext cx="91440" cy="6400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32220" y="3950208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Error 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78140" y="3950208"/>
            <a:ext cx="38633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Percentage of requests that fail or return errors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49340" y="4626864"/>
            <a:ext cx="57835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49340" y="4626864"/>
            <a:ext cx="9144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32220" y="4663440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CPU &amp; Memory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78140" y="4663440"/>
            <a:ext cx="38633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Server resource consumption under load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49340" y="5340096"/>
            <a:ext cx="57835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49340" y="5340096"/>
            <a:ext cx="91440" cy="640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32220" y="537667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90th Percentile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78140" y="5376672"/>
            <a:ext cx="38633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Response time 90% of requests fall under (P90)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56032" y="6492240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6032" y="6528816"/>
            <a:ext cx="11676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F2937"/>
                </a:solidFill>
              </a:rPr>
              <a:t>Performance testing is not just running a tool — it requires a plan, clear goals, the right metrics, and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AUTOMATION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Test Automation — Concepts &amp;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Understanding when, what, and how to automate — before writing a single line of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5783580" cy="40233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When Should You Automate?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773936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773936"/>
            <a:ext cx="91440" cy="67665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847088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9669"/>
                </a:solidFill>
              </a:rPr>
              <a:t>YES  Automate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47672" y="1847088"/>
            <a:ext cx="40005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Repetitive regression tests run on every build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523744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523744"/>
            <a:ext cx="91440" cy="67665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596896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9669"/>
                </a:solidFill>
              </a:rPr>
              <a:t>YES  Automate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7672" y="2596896"/>
            <a:ext cx="40005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Data-driven tests with many input combinations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273552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73552"/>
            <a:ext cx="91440" cy="67665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3346704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9669"/>
                </a:solidFill>
              </a:rPr>
              <a:t>YES  Automate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7672" y="3346704"/>
            <a:ext cx="40005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Smoke tests that must run after every deployment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023360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4023360"/>
            <a:ext cx="91440" cy="67665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409651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NO   Do Not Automate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47672" y="4096512"/>
            <a:ext cx="40005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Exploratory or usability tests — human judgment needed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4773168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4773168"/>
            <a:ext cx="91440" cy="67665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484632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NO   Do Not Automate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47672" y="4846320"/>
            <a:ext cx="40005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Tests on unstable or frequently changing UI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5596128"/>
            <a:ext cx="5783580" cy="402336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63270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Automation Pyramid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48941" y="6053328"/>
            <a:ext cx="2197760" cy="21945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" y="6071616"/>
            <a:ext cx="5783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E2E / UI Tests  —  Few — slowest, most expensive — full app flow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52486" y="6300216"/>
            <a:ext cx="3990670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032" y="6318504"/>
            <a:ext cx="5783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API / Integration  —  Middle — test service &amp; component contracts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6032" y="6547104"/>
            <a:ext cx="5783580" cy="21945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032" y="6565392"/>
            <a:ext cx="5783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Unit Tests  —  Most — fastest, cheapest — smallest code units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49340" y="1298448"/>
            <a:ext cx="5783580" cy="40233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9068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Automation Framework Types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9340" y="1773936"/>
            <a:ext cx="5783580" cy="87782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49340" y="1773936"/>
            <a:ext cx="91440" cy="877824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32220" y="1810512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EA044"/>
                </a:solidFill>
              </a:rPr>
              <a:t>Data-Driven Framework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2220" y="2176272"/>
            <a:ext cx="55275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Test logic is separated from test data. Data is loaded from files (CSV, JSON). The same test runs with many data sets.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49340" y="2743200"/>
            <a:ext cx="5783580" cy="87782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49340" y="2743200"/>
            <a:ext cx="91440" cy="877824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32220" y="2779776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56DB"/>
                </a:solidFill>
              </a:rPr>
              <a:t>Keyword-Driven Framework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2220" y="3145536"/>
            <a:ext cx="55275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Tests described as tables of keywords — not code. Non-technical testers can write tests.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49340" y="3712464"/>
            <a:ext cx="5783580" cy="87782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49340" y="3712464"/>
            <a:ext cx="91440" cy="8778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32220" y="3749040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59E0B"/>
                </a:solidFill>
              </a:rPr>
              <a:t>Page Object Model (POM)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32220" y="4114800"/>
            <a:ext cx="55275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Each page of the app is a class. UI selectors are separated from test logic. Easier to maintain as the app changes.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49340" y="4681728"/>
            <a:ext cx="5783580" cy="87782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49340" y="4681728"/>
            <a:ext cx="91440" cy="8778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32220" y="4718304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59669"/>
                </a:solidFill>
              </a:rPr>
              <a:t>BDD — Behaviour-Driven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32220" y="5084064"/>
            <a:ext cx="55275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Tests written in plain English (Given / When / Then). Business-readable test scenarios.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49340" y="5650992"/>
            <a:ext cx="5783580" cy="87782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49340" y="5650992"/>
            <a:ext cx="91440" cy="87782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32220" y="5687568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7C3AED"/>
                </a:solidFill>
              </a:rPr>
              <a:t>Hybrid Framework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32220" y="6053328"/>
            <a:ext cx="55275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Combines multiple approaches. Most real projects use a hybrid of POM + Data-Driven.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56032" y="6492240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6032" y="6528816"/>
            <a:ext cx="11676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F2937"/>
                </a:solidFill>
              </a:rPr>
              <a:t>Automation is a project — it requires a strategy, a maintenance plan, and a clear reason why each test is automated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256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A044"/>
                </a:solidFill>
              </a:rPr>
              <a:t>PLAYWRIGHT + JAVASCRIPT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6692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Playwright + JavaScript — Hands-On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11704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Modern, reliable end-to-end testing — cross-browser, no flakiness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572768"/>
            <a:ext cx="3819144" cy="384048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600200"/>
            <a:ext cx="3654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Playwright?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2029968"/>
            <a:ext cx="3819144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084831"/>
            <a:ext cx="3636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Cross-browser: Chromium, Firefox, WebKit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2523744"/>
            <a:ext cx="3819144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578607"/>
            <a:ext cx="3636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Auto-waits — no flaky sleep() calls needed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3017520"/>
            <a:ext cx="3819144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072383"/>
            <a:ext cx="3636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Built-in locators: getByRole, getByText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" y="3511296"/>
            <a:ext cx="3819144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566159"/>
            <a:ext cx="3636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HTML reporter with screenshots &amp; traces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4005072"/>
            <a:ext cx="3819144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059935"/>
            <a:ext cx="3636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JavaScript — no extra language to learn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4572000"/>
            <a:ext cx="3819144" cy="384048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4599432"/>
            <a:ext cx="3654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Setup (3 commands)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" y="5029200"/>
            <a:ext cx="3819144" cy="347472"/>
          </a:xfrm>
          <a:prstGeom prst="rect">
            <a:avLst/>
          </a:prstGeom>
          <a:solidFill>
            <a:srgbClr val="05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5047488"/>
            <a:ext cx="36545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EA044"/>
                </a:solidFill>
              </a:rPr>
              <a:t>$ npm init -y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" y="5413248"/>
            <a:ext cx="3819144" cy="347472"/>
          </a:xfrm>
          <a:prstGeom prst="rect">
            <a:avLst/>
          </a:prstGeom>
          <a:solidFill>
            <a:srgbClr val="05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5431536"/>
            <a:ext cx="36545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EA044"/>
                </a:solidFill>
              </a:rPr>
              <a:t>$ npm install --save-dev @playwright/test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5797296"/>
            <a:ext cx="3819144" cy="347472"/>
          </a:xfrm>
          <a:prstGeom prst="rect">
            <a:avLst/>
          </a:prstGeom>
          <a:solidFill>
            <a:srgbClr val="05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5815584"/>
            <a:ext cx="36545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EA044"/>
                </a:solidFill>
              </a:rPr>
              <a:t>$ npx playwright install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" y="6181344"/>
            <a:ext cx="3819144" cy="347472"/>
          </a:xfrm>
          <a:prstGeom prst="rect">
            <a:avLst/>
          </a:prstGeom>
          <a:solidFill>
            <a:srgbClr val="05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6199632"/>
            <a:ext cx="36545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4"/>
                </a:solidFill>
              </a:rPr>
              <a:t>$ npx playwright test   # run tests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84904" y="1572768"/>
            <a:ext cx="3910584" cy="384048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76344" y="1600200"/>
            <a:ext cx="374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Example Test — Login Page (JavaScript)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84904" y="2029968"/>
            <a:ext cx="3910584" cy="462686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2920" y="2103120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// tests/login.spec.js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2920" y="2313432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DBEAFF"/>
                </a:solidFill>
              </a:rPr>
              <a:t>import { test, expect } from '@playwright/test';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2920" y="2523744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2920" y="2734056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</a:rPr>
              <a:t>test.describe('Login Page', () =&gt; {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2920" y="2944368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2920" y="3154680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  test('valid login redirects to dashboard',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2920" y="3364992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       async ({ page }) =&gt; {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2920" y="3575304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2920" y="3785616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06B6D4"/>
                </a:solidFill>
              </a:rPr>
              <a:t>    await page.goto('https://example.com/login');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2920" y="3995928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2920" y="4206240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2EA044"/>
                </a:solidFill>
              </a:rPr>
              <a:t>    await page.getByLabel('Email')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2920" y="4416552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2EA044"/>
                </a:solidFill>
              </a:rPr>
              <a:t>          .fill('user@example.com');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12920" y="4626864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2EA044"/>
                </a:solidFill>
              </a:rPr>
              <a:t>    await page.getByLabel('Password').fill('p@ss!');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2920" y="4837176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2EA044"/>
                </a:solidFill>
              </a:rPr>
              <a:t>    await page.getByRole('button',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2920" y="5047488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2EA044"/>
                </a:solidFill>
              </a:rPr>
              <a:t>          { name: 'Login' }).click();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2920" y="5257800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2920" y="5468112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</a:rPr>
              <a:t>    await expect(page).toHaveURL('/dashboard');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2920" y="5678424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</a:rPr>
              <a:t>    await expect(page.getByText('Welcome'))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12920" y="5888736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</a:rPr>
              <a:t>          .toBeVisible();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12920" y="6099048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  });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12920" y="6309360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</a:rPr>
              <a:t>});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05216" y="1572768"/>
            <a:ext cx="3727704" cy="384048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96656" y="1600200"/>
            <a:ext cx="356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Key Concepts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05216" y="2029968"/>
            <a:ext cx="3727704" cy="58521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05216" y="2029968"/>
            <a:ext cx="73152" cy="585216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9808" y="2066544"/>
            <a:ext cx="348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044"/>
                </a:solidFill>
              </a:rPr>
              <a:t>page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69808" y="2350008"/>
            <a:ext cx="3489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The browser tab — navigate &amp; interact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05216" y="2688336"/>
            <a:ext cx="3727704" cy="58521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205216" y="2688336"/>
            <a:ext cx="73152" cy="585216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69808" y="2724912"/>
            <a:ext cx="348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</a:rPr>
              <a:t>locator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69808" y="3008376"/>
            <a:ext cx="3489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Finds elements smartly &amp; reliably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05216" y="3346704"/>
            <a:ext cx="3727704" cy="58521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05216" y="3346704"/>
            <a:ext cx="73152" cy="58521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69808" y="3383280"/>
            <a:ext cx="348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expect()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69808" y="3666744"/>
            <a:ext cx="3489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Assertion with auto-retry built in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05216" y="4005072"/>
            <a:ext cx="3727704" cy="58521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205216" y="4005072"/>
            <a:ext cx="73152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9808" y="4041648"/>
            <a:ext cx="348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test.beforeEach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69808" y="4325112"/>
            <a:ext cx="3489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Setup hook before each test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05216" y="4663440"/>
            <a:ext cx="3727704" cy="58521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205216" y="4663440"/>
            <a:ext cx="73152" cy="5852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9808" y="4700016"/>
            <a:ext cx="348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</a:rPr>
              <a:t>fixtures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69808" y="4983480"/>
            <a:ext cx="3489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Shared page/browser across tests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05216" y="5321808"/>
            <a:ext cx="3727704" cy="58521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205216" y="5321808"/>
            <a:ext cx="73152" cy="58521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69808" y="5358384"/>
            <a:ext cx="348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</a:rPr>
              <a:t>Page Object Model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69808" y="5641848"/>
            <a:ext cx="3489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Class per page — maintainable tests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05216" y="5980176"/>
            <a:ext cx="3727704" cy="58521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205216" y="5980176"/>
            <a:ext cx="73152" cy="585216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69808" y="6016752"/>
            <a:ext cx="348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CA3AF"/>
                </a:solidFill>
              </a:rPr>
              <a:t>trace viewer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69808" y="6300216"/>
            <a:ext cx="3489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Record &amp; replay — debug any failure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2CC"/>
                </a:solidFill>
              </a:rPr>
              <a:t>JIRA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Jira — Test Cases &amp; Bug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The industry-standard tool for managing test cases, tracking bugs, and reporting quality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5783580" cy="40233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Writing Test Cases in Jira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773936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773936"/>
            <a:ext cx="91440" cy="58521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810512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Test Case 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1810512"/>
            <a:ext cx="39547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Unique identifier e.g. TC-001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432304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432304"/>
            <a:ext cx="91440" cy="58521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46888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Title / Summary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93392" y="2468880"/>
            <a:ext cx="39547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One-line description of what is being tested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090672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090672"/>
            <a:ext cx="91440" cy="58521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312724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Preconditions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93392" y="3127248"/>
            <a:ext cx="39547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What must be true before the test runs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3749040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749040"/>
            <a:ext cx="91440" cy="58521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7856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Test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93392" y="3785616"/>
            <a:ext cx="39547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Step-by-step instructions — clear and numbered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4407408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4407408"/>
            <a:ext cx="91440" cy="58521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4443984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Expected Result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93392" y="4443984"/>
            <a:ext cx="39547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What the correct behavior should be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5065776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" y="5065776"/>
            <a:ext cx="91440" cy="58521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5102352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Actual Result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93392" y="5102352"/>
            <a:ext cx="39547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What actually happened — filled during execution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5724144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6032" y="5724144"/>
            <a:ext cx="91440" cy="58521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576072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Status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93392" y="5760720"/>
            <a:ext cx="39547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Pass / Fail / Blocked / Not Executed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49340" y="1298448"/>
            <a:ext cx="5783580" cy="40233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9068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Writing Bug Reports in Jira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9340" y="1773936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49340" y="1773936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32220" y="1810512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Bug 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69580" y="1810512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Auto-generated by Jira (e.g. QA-42)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49340" y="2359152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49340" y="2359152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32220" y="2395728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Summary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9580" y="2395728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One-line description of the problem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49340" y="2944368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49340" y="2944368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32220" y="2980944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Environment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69580" y="2980944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OS, browser, app version where bug was found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49340" y="3529584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49340" y="3529584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32220" y="3566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Steps to Reproduce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69580" y="3566160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Exact numbered steps to trigger the bug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49340" y="4114800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49340" y="4114800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32220" y="4151376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Expected Result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69580" y="4151376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What should have happened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49340" y="4700016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149340" y="4700016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32220" y="4736592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Actual Result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69580" y="4736592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What happened instead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49340" y="5285232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49340" y="5285232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32220" y="5321808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Severity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69580" y="5321808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Critical / Major / Minor / Trivial — impact level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49340" y="5870448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49340" y="5870448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32220" y="5907024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Priority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69580" y="5907024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High / Medium / Low — urgency to fix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56032" y="6492240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6032" y="6528816"/>
            <a:ext cx="11676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F2937"/>
                </a:solidFill>
              </a:rPr>
              <a:t>A great bug report lets any developer reproduce, understand, and fix the issue — without needing to ask a single question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4292E"/>
                </a:solidFill>
              </a:rPr>
              <a:t>GITHUB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Building Your GitHub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Your GitHub profile is your CV — it shows employers your skills with real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5783580" cy="402336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Setting Up Your GitHub Profile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773936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773936"/>
            <a:ext cx="91440" cy="585216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810512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1. Create your GitHub account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084832"/>
            <a:ext cx="55275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Go to github.com — Sign Up — choose a professional username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432304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432304"/>
            <a:ext cx="91440" cy="585216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468880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2. Complete your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2743200"/>
            <a:ext cx="55275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Add a photo, bio, location, and link to LinkedIn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090672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090672"/>
            <a:ext cx="91440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3127248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3. Create a pinned repository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3401568"/>
            <a:ext cx="55275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Your capstone Playwright project — public, with a clear name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3749040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749040"/>
            <a:ext cx="91440" cy="58521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785616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4. Write a great README.md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4059936"/>
            <a:ext cx="55275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Project title, what it tests, how to install, how to run, screenshots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4407408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4407408"/>
            <a:ext cx="91440" cy="5852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4443984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5. Commit your Playwright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4718304"/>
            <a:ext cx="55275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Push all test files — organized by feature in the tests/ folder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5065776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" y="5065776"/>
            <a:ext cx="91440" cy="58521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5102352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6. Add a screenshot or demo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5376672"/>
            <a:ext cx="55275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Include a Playwright HTML report screenshot in the README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5724144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6032" y="5724144"/>
            <a:ext cx="91440" cy="585216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5760720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7. Share the link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6035040"/>
            <a:ext cx="55275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Add github.com/your-username to your CV and LinkedIn profile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49340" y="1298448"/>
            <a:ext cx="5783580" cy="402336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9068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What Employers Look For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9340" y="1773936"/>
            <a:ext cx="5783580" cy="69494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49340" y="1773936"/>
            <a:ext cx="91440" cy="6949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32220" y="1810512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YES  Clean, organized code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2220" y="2103120"/>
            <a:ext cx="55275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Meaningful file names, comments where helpful, no leftover debug code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49340" y="2542032"/>
            <a:ext cx="5783580" cy="69494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49340" y="2542032"/>
            <a:ext cx="91440" cy="6949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32220" y="2578608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YES  Professional README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2220" y="2871216"/>
            <a:ext cx="55275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Describes the project clearly — purpose, tech stack, setup, screenshots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49340" y="3310128"/>
            <a:ext cx="5783580" cy="69494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49340" y="3310128"/>
            <a:ext cx="91440" cy="6949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32220" y="3346704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YES  Real test coverage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32220" y="3639312"/>
            <a:ext cx="55275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Login, search, forms, navigation — not just a hello-world test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49340" y="4078224"/>
            <a:ext cx="5783580" cy="69494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49340" y="4078224"/>
            <a:ext cx="91440" cy="6949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32220" y="4114800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YES  Consistent commits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32220" y="4407408"/>
            <a:ext cx="55275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Regular small commits show systematic, professional work habits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49340" y="4846320"/>
            <a:ext cx="5783580" cy="69494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49340" y="4846320"/>
            <a:ext cx="91440" cy="6949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32220" y="4882896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NO  Empty or confusing repos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32220" y="5175504"/>
            <a:ext cx="55275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No README, no structure, or files named test1.js, test2.js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49340" y="5614416"/>
            <a:ext cx="5783580" cy="69494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149340" y="5614416"/>
            <a:ext cx="91440" cy="6949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32220" y="5650992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NO  Only one project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32220" y="5943600"/>
            <a:ext cx="55275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Even a small Postman collection as a second project adds credibility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6032" y="6492240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6032" y="6528816"/>
            <a:ext cx="11676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24292E"/>
                </a:solidFill>
              </a:rPr>
              <a:t>Your GitHub portfolio is often more valuable than your certificate — it shows employers what you can actually build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CAPSTONE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Capstone Project — Build &amp; Submit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Your final project brings together everything — and goes on your GitHub profile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5783580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What You Will Deliver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773936"/>
            <a:ext cx="5783580" cy="10789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773936"/>
            <a:ext cx="91440" cy="1078992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828800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Playwright Test Suite (JavaScript)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212848"/>
            <a:ext cx="552754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Minimum 8 automated test cases — login, search, form, navigation of a real web app.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944368"/>
            <a:ext cx="5783580" cy="10789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944368"/>
            <a:ext cx="91440" cy="1078992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999232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Test Cases in Jira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383280"/>
            <a:ext cx="552754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At least 5 test cases with preconditions, steps, expected results, and status.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4114800"/>
            <a:ext cx="5783580" cy="10789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4114800"/>
            <a:ext cx="91440" cy="107899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4169664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Bug Reports in Jira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4553712"/>
            <a:ext cx="552754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At least 3 professional bug reports with steps to reproduce, severity, and screenshots.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5285232"/>
            <a:ext cx="5783580" cy="10789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5285232"/>
            <a:ext cx="91440" cy="1078992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5340096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GitHub Repository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5724144"/>
            <a:ext cx="552754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Test suite published on GitHub with a professional README and clean folder structure.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9340" y="1298448"/>
            <a:ext cx="5783580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9068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Grading Criteria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9340" y="1773936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49340" y="1773936"/>
            <a:ext cx="91440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3932" y="1810512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</a:rPr>
              <a:t>30%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54012" y="1810512"/>
            <a:ext cx="49057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Test Coverage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54012" y="2121408"/>
            <a:ext cx="49057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Does the suite cover the required user flows?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9340" y="2523744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9340" y="2523744"/>
            <a:ext cx="91440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3932" y="2560320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</a:rPr>
              <a:t>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54012" y="2560320"/>
            <a:ext cx="49057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Code Quality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54012" y="2871216"/>
            <a:ext cx="49057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Clean code, meaningful names, POM pattern used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49340" y="3273552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9340" y="3273552"/>
            <a:ext cx="91440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13932" y="3310128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</a:rPr>
              <a:t>20%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54012" y="3310128"/>
            <a:ext cx="49057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Jira Test Cases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54012" y="3621024"/>
            <a:ext cx="49057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Complete, well-structured test case documentation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9340" y="4023360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9340" y="4023360"/>
            <a:ext cx="91440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13932" y="4059936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</a:rPr>
              <a:t>20%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54012" y="4059936"/>
            <a:ext cx="49057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Bug Reports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54012" y="4370832"/>
            <a:ext cx="49057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Clear, reproducible bug reports with evidence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49340" y="4773168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49340" y="4773168"/>
            <a:ext cx="91440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13932" y="4809744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</a:rPr>
              <a:t>10%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54012" y="4809744"/>
            <a:ext cx="49057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GitHub Repository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54012" y="5120640"/>
            <a:ext cx="49057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Professional README, clean structure, commits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56032" y="6492240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6032" y="6528816"/>
            <a:ext cx="11676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F59E0B"/>
                </a:solidFill>
              </a:rPr>
              <a:t>Graduates who complete the capstone project receive their Certificate and a showcase feature on our graduate page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256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6692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Tools &amp; Technologies You Will Master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11704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Hands-on experience with the industry leading QA and automation tools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572768"/>
            <a:ext cx="3819144" cy="1874519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572768"/>
            <a:ext cx="3819144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70078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Postman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103120"/>
            <a:ext cx="3617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56DB"/>
                </a:solidFill>
              </a:rPr>
              <a:t>API Testing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239572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" y="2487168"/>
            <a:ext cx="36179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Test RESTful APIs — send requests, write assertions, run collections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84904" y="1572768"/>
            <a:ext cx="3819144" cy="1874519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84904" y="1572768"/>
            <a:ext cx="3819144" cy="73152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2064" y="170078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Playwright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2064" y="2103120"/>
            <a:ext cx="3617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EA044"/>
                </a:solidFill>
              </a:rPr>
              <a:t>UI Test Automation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39572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22064" y="2487168"/>
            <a:ext cx="36179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Write and run automated browser tests in JavaScript — cross-browser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13776" y="1572768"/>
            <a:ext cx="3819144" cy="1874519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6" y="1572768"/>
            <a:ext cx="3819144" cy="73152"/>
          </a:xfrm>
          <a:prstGeom prst="rect">
            <a:avLst/>
          </a:prstGeom>
          <a:solidFill>
            <a:srgbClr val="F7D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0936" y="170078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JavaScript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0936" y="2103120"/>
            <a:ext cx="3617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DF1E"/>
                </a:solidFill>
              </a:rPr>
              <a:t>Scripting Language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" y="239572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0936" y="2487168"/>
            <a:ext cx="36179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The language powering your Playwright tests — no prior experience required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3630167"/>
            <a:ext cx="3819144" cy="1874519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" y="3630167"/>
            <a:ext cx="3819144" cy="73152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3192" y="3758183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Jira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" y="4160519"/>
            <a:ext cx="3617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52CC"/>
                </a:solidFill>
              </a:rPr>
              <a:t>Test &amp; Bug Management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4453127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" y="4544567"/>
            <a:ext cx="36179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Create test cases, log bug reports, manage test cycles professionally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84904" y="3630167"/>
            <a:ext cx="3819144" cy="1874519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84904" y="3630167"/>
            <a:ext cx="3819144" cy="73152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22064" y="3758183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Git &amp; GitHub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2064" y="4160519"/>
            <a:ext cx="3617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4292E"/>
                </a:solidFill>
              </a:rPr>
              <a:t>Version Control + Portfolio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32" y="4453127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22064" y="4544567"/>
            <a:ext cx="36179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Version control and host your automation project as a public portfolio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13776" y="3630167"/>
            <a:ext cx="3819144" cy="1874519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13776" y="3630167"/>
            <a:ext cx="3819144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0936" y="3758183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VS 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50936" y="4160519"/>
            <a:ext cx="3617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59669"/>
                </a:solidFill>
              </a:rPr>
              <a:t>IDE &amp; Editor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6032" y="4453127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50936" y="4544567"/>
            <a:ext cx="36179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Write, run, and debug your Playwright tests with full IDE support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</a:rPr>
              <a:t>WHO IS THIS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Who Is This Program For?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Target Audience — No prior testing experience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2846070" cy="2240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298448"/>
            <a:ext cx="284607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463040"/>
            <a:ext cx="264490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IT &amp; CS Graduates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" y="1984248"/>
            <a:ext cx="264490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Recent graduates entering the QA job market for the first 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93542" y="1298448"/>
            <a:ext cx="2846070" cy="2240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93542" y="1298448"/>
            <a:ext cx="2846070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0702" y="1463040"/>
            <a:ext cx="264490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Career Changers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0702" y="1984248"/>
            <a:ext cx="264490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Professionals from other fields transitioning into QA engineering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31052" y="1298448"/>
            <a:ext cx="2846070" cy="2240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31052" y="1298448"/>
            <a:ext cx="284607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8212" y="1463040"/>
            <a:ext cx="264490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Junior Developers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8212" y="1984248"/>
            <a:ext cx="264490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Developers wanting to understand testing, quality, and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68562" y="1298448"/>
            <a:ext cx="2846070" cy="2240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8562" y="1298448"/>
            <a:ext cx="284607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5722" y="1463040"/>
            <a:ext cx="264490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Project Managers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05722" y="1984248"/>
            <a:ext cx="264490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Professionals who want to deeply understand QA processes and tools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3749039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" y="3840480"/>
            <a:ext cx="4572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1F44"/>
                </a:solidFill>
              </a:rPr>
              <a:t>Enrollment 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6032" y="4334256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✓  No prior software testing experience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" y="46817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✓  Basic computer and internet familiarity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" y="50292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✓  Motivation to learn and grow professionally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" y="53766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✓  A personal computer (Windows / Mac / Linux) with internet access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12188952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88952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91840" y="822960"/>
            <a:ext cx="5577840" cy="4023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85039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Registration Is Now Open — Cohort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298448"/>
            <a:ext cx="9601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Start Your Journey in
Software Testing Today!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12724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</a:rPr>
              <a:t>Concepts  •  Performance Testing  •  Automation  •  Playwright + JS  •  Jira  •  GitHub Portfolio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73836" y="3657600"/>
            <a:ext cx="2423160" cy="877824"/>
          </a:xfrm>
          <a:prstGeom prst="rect">
            <a:avLst/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3836" y="3694176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3836" y="4151376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Lectures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79876" y="3657600"/>
            <a:ext cx="2423160" cy="877824"/>
          </a:xfrm>
          <a:prstGeom prst="rect">
            <a:avLst/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9876" y="3694176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9876" y="4151376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Months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3657600"/>
            <a:ext cx="2423160" cy="877824"/>
          </a:xfrm>
          <a:prstGeom prst="rect">
            <a:avLst/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3694176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Jira +
GitHub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5916" y="4151376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Tools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91956" y="3657600"/>
            <a:ext cx="2423160" cy="877824"/>
          </a:xfrm>
          <a:prstGeom prst="rect">
            <a:avLst/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91956" y="3694176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1956" y="4151376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Final Project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4919472"/>
            <a:ext cx="3017520" cy="5943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974336"/>
            <a:ext cx="30175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A1F44"/>
                </a:solidFill>
              </a:rPr>
              <a:t>Enroll Now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669280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info@example.com  |  www.example.com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Program Pricing — Choose Your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2-month Software Testing Diploma · All prices in SAR · Adjust to suit your 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" y="1417320"/>
            <a:ext cx="3474720" cy="438912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1772" y="1417320"/>
            <a:ext cx="3474720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6132" y="1618488"/>
            <a:ext cx="2286000" cy="292608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6132" y="16184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Limited Seats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" y="207568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56DB"/>
                </a:solidFill>
              </a:rPr>
              <a:t>Early Bird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" y="2551176"/>
            <a:ext cx="3108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299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" y="320954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SAR  ·  one-time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092" y="3538728"/>
            <a:ext cx="2926080" cy="127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" y="3703320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✓  Full 12-lecture curriculum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" y="4032504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✓  Playwright + JS examples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" y="4361688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✓  Jira test cases &amp; bug reports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" y="4690872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✓  GitHub portfolio guidance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" y="5020056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✓  Course certificate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" y="5349240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✓  Community support (chat)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" y="5239512"/>
            <a:ext cx="2560320" cy="43891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2" y="5239512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Register Early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7116" y="1216152"/>
            <a:ext cx="3474720" cy="4791456"/>
          </a:xfrm>
          <a:prstGeom prst="rect">
            <a:avLst/>
          </a:prstGeom>
          <a:solidFill>
            <a:srgbClr val="04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57116" y="1216152"/>
            <a:ext cx="3474720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51476" y="1453896"/>
            <a:ext cx="2286000" cy="2926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51476" y="14538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1F44"/>
                </a:solidFill>
              </a:rPr>
              <a:t>Most Popular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9996" y="191109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6B6D4"/>
                </a:solidFill>
              </a:rPr>
              <a:t>Standard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9996" y="2386584"/>
            <a:ext cx="3108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449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9996" y="304495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SAR  ·  one-time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31436" y="3374136"/>
            <a:ext cx="2926080" cy="127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58284" y="3538728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✓  Everything in Early Bird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8284" y="3867912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✓  Recorded session replays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8284" y="4197096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✓  Extra practice exercises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8284" y="4526280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✓  2 live Q&amp;A sessions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8284" y="4855464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✓  LinkedIn profile 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8284" y="5184648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✓  Priority community support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14316" y="5440680"/>
            <a:ext cx="2560320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14316" y="544068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Enroll Now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52460" y="1417320"/>
            <a:ext cx="3474720" cy="438912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52460" y="1417320"/>
            <a:ext cx="3474720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846820" y="1618488"/>
            <a:ext cx="2286000" cy="2926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46820" y="16184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1F44"/>
                </a:solidFill>
              </a:rPr>
              <a:t>Max 5 Students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35340" y="207568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VIP Mentoring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35340" y="2551176"/>
            <a:ext cx="3108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699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5340" y="320954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SAR  ·  one-time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26780" y="3538728"/>
            <a:ext cx="2926080" cy="127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53628" y="3703320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✓  Everything in Standard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3628" y="4032504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✓  1-on-1 weekly sessions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3628" y="4361688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✓  Personal project review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3628" y="4690872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✓  CV &amp; portfolio review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53628" y="5020056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✓  Job application guidance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53628" y="5349240"/>
            <a:ext cx="3108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✓  WhatsApp direct access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09660" y="5239512"/>
            <a:ext cx="2560320" cy="43891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09660" y="5239512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Apply for VIP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56032" y="5998464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6032" y="6071616"/>
            <a:ext cx="11676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CA3AF"/>
                </a:solidFill>
              </a:rPr>
              <a:t>All plans include lifetime access to course materials  •  Certificate issued upon project completion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6032" y="6364224"/>
            <a:ext cx="11676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CA3AF"/>
                </a:solidFill>
              </a:rPr>
              <a:t>Group discounts available for 3+ enrollments  •  Installment payment available on request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